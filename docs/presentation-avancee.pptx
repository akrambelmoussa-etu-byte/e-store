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0638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16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3194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4472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50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7028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8306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0862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140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3418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4696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5974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7252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78530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1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905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191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953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477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219456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 i="0">
                <a:solidFill>
                  <a:srgbClr val="1F2937"/>
                </a:solidFill>
                <a:latin typeface="Calibri"/>
              </a:rPr>
              <a:t>E-STORE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F2937"/>
                </a:solidFill>
                <a:latin typeface="Calibri"/>
              </a:rPr>
              <a:t>Ingenierie d'une Plateforme E-Commerce Full-Stack 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F2937"/>
                </a:solidFill>
                <a:latin typeface="Calibri"/>
              </a:rPr>
              <a:t>Conception, Persistance Hybride et Securite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9447" y="5669280"/>
            <a:ext cx="3474720" cy="8686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1F2937"/>
                </a:solidFill>
                <a:latin typeface="Consolas"/>
              </a:rPr>
              <a:t>Auteurs :</a:t>
            </a:r>
            <a:br/>
            <a:r>
              <a:rPr sz="1100" b="0">
                <a:solidFill>
                  <a:srgbClr val="1F2937"/>
                </a:solidFill>
                <a:latin typeface="Consolas"/>
              </a:rPr>
              <a:t>Akram Belmoussa &amp; Nouhaila Ben Soumane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207" y="5760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DB1C4"/>
                </a:solidFill>
                <a:latin typeface="Calibri"/>
              </a:rPr>
              <a:t>Auteurs :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8487" y="5669280"/>
            <a:ext cx="3474720" cy="8686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1F2937"/>
                </a:solidFill>
                <a:latin typeface="Consolas"/>
              </a:rPr>
              <a:t>Supervision academique :</a:t>
            </a:r>
            <a:br/>
            <a:r>
              <a:rPr sz="1100" b="0">
                <a:solidFill>
                  <a:srgbClr val="1F2937"/>
                </a:solidFill>
                <a:latin typeface="Consolas"/>
              </a:rPr>
              <a:t>Pr. Omar Zahour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07527" y="5669280"/>
            <a:ext cx="3474720" cy="8686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Etablissement :</a:t>
            </a:r>
            <a:br/>
            <a:r>
              <a:rPr sz="1000" b="0">
                <a:solidFill>
                  <a:srgbClr val="1F2937"/>
                </a:solidFill>
                <a:latin typeface="Consolas"/>
              </a:rPr>
              <a:t>FSBM - Universite Hassan II</a:t>
            </a:r>
            <a:br/>
            <a:r>
              <a:rPr sz="1000" b="0">
                <a:solidFill>
                  <a:srgbClr val="1F2937"/>
                </a:solidFill>
                <a:latin typeface="Consolas"/>
              </a:rPr>
              <a:t>(Annee 2025-2026)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937"/>
                </a:solidFill>
                <a:latin typeface="Calibri"/>
              </a:rPr>
              <a:t>Mandat</a:t>
            </a:r>
            <a:br/>
            <a:r>
              <a:rPr sz="4400" b="1" i="0">
                <a:solidFill>
                  <a:srgbClr val="1F2937"/>
                </a:solidFill>
                <a:latin typeface="Calibri"/>
              </a:rPr>
              <a:t>d'Ingenierie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9456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Contexte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4480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Mini-projet pedagogique e-commerce.</a:t>
            </a:r>
            <a:br/>
            <a:r>
              <a:rPr sz="1300" b="0" i="0">
                <a:solidFill>
                  <a:srgbClr val="1F2937"/>
                </a:solidFill>
                <a:latin typeface="Calibri"/>
              </a:rPr>
              <a:t>Perimetre d'application complet :</a:t>
            </a:r>
            <a:br/>
            <a:r>
              <a:rPr sz="1300" b="0" i="0">
                <a:solidFill>
                  <a:srgbClr val="1F2937"/>
                </a:solidFill>
                <a:latin typeface="Calibri"/>
              </a:rPr>
              <a:t>Inscription, catalogue, panier, commandes,</a:t>
            </a:r>
            <a:br/>
            <a:r>
              <a:rPr sz="1300" b="0" i="0">
                <a:solidFill>
                  <a:srgbClr val="1F2937"/>
                </a:solidFill>
                <a:latin typeface="Calibri"/>
              </a:rPr>
              <a:t>et gestion des avis.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480560"/>
            <a:ext cx="292608" cy="292608"/>
          </a:xfrm>
          <a:prstGeom prst="rect">
            <a:avLst/>
          </a:prstGeom>
          <a:solidFill>
            <a:srgbClr val="F5F7FA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Perimetre d'application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645152"/>
            <a:ext cx="292608" cy="292608"/>
          </a:xfrm>
          <a:prstGeom prst="rect">
            <a:avLst/>
          </a:prstGeom>
          <a:solidFill>
            <a:srgbClr val="F5F7FA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6908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Inscription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4809744"/>
            <a:ext cx="292608" cy="292608"/>
          </a:xfrm>
          <a:prstGeom prst="rect">
            <a:avLst/>
          </a:prstGeom>
          <a:solidFill>
            <a:srgbClr val="F5F7FA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8554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Catalogue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974336"/>
            <a:ext cx="292608" cy="292608"/>
          </a:xfrm>
          <a:prstGeom prst="rect">
            <a:avLst/>
          </a:prstGeom>
          <a:solidFill>
            <a:srgbClr val="F5F7FA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50200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Panier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5138928"/>
            <a:ext cx="292608" cy="292608"/>
          </a:xfrm>
          <a:prstGeom prst="rect">
            <a:avLst/>
          </a:prstGeom>
          <a:solidFill>
            <a:srgbClr val="F5F7FA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51846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Commandes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5303520"/>
            <a:ext cx="292608" cy="292608"/>
          </a:xfrm>
          <a:prstGeom prst="rect">
            <a:avLst/>
          </a:prstGeom>
          <a:solidFill>
            <a:srgbClr val="F5F7FA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5349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Gestion des avis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914400"/>
            <a:ext cx="58521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005840"/>
            <a:ext cx="91440" cy="68580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0" y="1115568"/>
            <a:ext cx="457200" cy="457200"/>
          </a:xfrm>
          <a:prstGeom prst="ellipse">
            <a:avLst/>
          </a:prstGeom>
          <a:solidFill>
            <a:srgbClr val="F5F7FA"/>
          </a:solidFill>
          <a:ln w="1524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0789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Objectif 1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325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Maitriser une architecture full-stack moderne.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947672"/>
            <a:ext cx="58521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2039112"/>
            <a:ext cx="91440" cy="68580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17920" y="2148840"/>
            <a:ext cx="457200" cy="457200"/>
          </a:xfrm>
          <a:prstGeom prst="ellipse">
            <a:avLst/>
          </a:prstGeom>
          <a:solidFill>
            <a:srgbClr val="F5F7FA"/>
          </a:solidFill>
          <a:ln w="1524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11226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Objectif 2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35915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Illustrer la puissance d'une persistance hybride SQL + NoSQL.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2980944"/>
            <a:ext cx="58521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072384"/>
            <a:ext cx="91440" cy="6858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17920" y="3182112"/>
            <a:ext cx="457200" cy="457200"/>
          </a:xfrm>
          <a:prstGeom prst="ellipse">
            <a:avLst/>
          </a:prstGeom>
          <a:solidFill>
            <a:srgbClr val="F5F7FA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1455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Objectif 3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9242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Appliquer les bonnes pratiques (DTOs, @Transactional, tests unitaires).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014216"/>
            <a:ext cx="58521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4105656"/>
            <a:ext cx="91440" cy="68580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17920" y="4215384"/>
            <a:ext cx="457200" cy="457200"/>
          </a:xfrm>
          <a:prstGeom prst="ellipse">
            <a:avLst/>
          </a:prstGeom>
          <a:solidFill>
            <a:srgbClr val="F5F7FA"/>
          </a:solidFill>
          <a:ln w="1524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178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Objectif 4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42569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Verrouiller les acces via JWT et Spring Security 6.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5047488"/>
            <a:ext cx="58521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5138928"/>
            <a:ext cx="91440" cy="68580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5248656"/>
            <a:ext cx="457200" cy="457200"/>
          </a:xfrm>
          <a:prstGeom prst="ellipse">
            <a:avLst/>
          </a:prstGeom>
          <a:solidFill>
            <a:srgbClr val="F5F7FA"/>
          </a:solidFill>
          <a:ln w="1524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5212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Objectif 5 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4589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Produire une UI reactive avec Angular 17 en mode standalone.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Plan de la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847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8007" y="1371600"/>
            <a:ext cx="3383280" cy="73152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167" y="1645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PARTIE 1 - Fondations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07" y="2240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1. Couverture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606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2. Mandat d'ingenierie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971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3.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337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4. Cahier des charges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3703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5. Matrice architecturale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4069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6. Couches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4434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7. Domaines DDD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4800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8. Ecosysteme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5166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9. Stack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5532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10. Stack 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047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4207" y="1371600"/>
            <a:ext cx="3383280" cy="73152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1367" y="1645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PARTIE 2 - Backend &amp; Securite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2240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11. Modele de donnees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807" y="2606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12. Domaine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807" y="2971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13. Domaine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2807" y="3337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14. Domaine 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807" y="3703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15. Domaine shopping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807" y="4069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16. Domaine billing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2807" y="4434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17. Persistance hybride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807" y="4800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18. Domaine review (Mongo)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2807" y="5166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19. Cycle 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2807" y="5532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20. Endpoints REST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3247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90407" y="1371600"/>
            <a:ext cx="3383280" cy="73152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7567" y="1645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PARTIE 3 - Frontend, Demo,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9007" y="2240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21. Facade Angular 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9007" y="2606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22. Architecture 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9007" y="2971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23. Signals &amp;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9007" y="3337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24. Interceptors &amp; guards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9007" y="3703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25. Parcours utilisateur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9007" y="4069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26. Tests unitaires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9007" y="4434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27. Difficulte Docker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9007" y="4800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28. Bilan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9007" y="5166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29. Feuille de route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9007" y="5532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30. Q &amp; 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Cahier des charges fonctionnel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51600"/>
            <a:ext cx="80000" cy="112016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5760" y="1491600"/>
            <a:ext cx="526928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Inscription &amp; connexion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Compte utilisateur avec email unique, BCrypt, role USER/ADMIN.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669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451600"/>
            <a:ext cx="80000" cy="112016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9360" y="1491600"/>
            <a:ext cx="526928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Catalogue produits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Categories, recherche par mot-cle, filtre, pagination, fiche detaillee.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80360"/>
            <a:ext cx="5669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960360"/>
            <a:ext cx="80000" cy="1120160"/>
          </a:xfrm>
          <a:prstGeom prst="rect">
            <a:avLst/>
          </a:prstGeom>
          <a:solidFill>
            <a:srgbClr val="5BA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760" y="3000360"/>
            <a:ext cx="526928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Panier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Ajout/modification/suppression d'articles, prix fige, controle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80360"/>
            <a:ext cx="5669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960360"/>
            <a:ext cx="80000" cy="112016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360" y="3000360"/>
            <a:ext cx="526928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Commandes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Validation transactionnelle, decrement stock, historique consultable.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389120"/>
            <a:ext cx="5669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469120"/>
            <a:ext cx="80000" cy="112016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760" y="4509120"/>
            <a:ext cx="526928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Avis (Reviews)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Note 1-5 + commentaire stocke en MongoDB, lecture publique.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389120"/>
            <a:ext cx="5669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469120"/>
            <a:ext cx="80000" cy="1120160"/>
          </a:xfrm>
          <a:prstGeom prst="rect">
            <a:avLst/>
          </a:prstGeom>
          <a:solidFill>
            <a:srgbClr val="D8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9360" y="4509120"/>
            <a:ext cx="526928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Administration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CRUD produits/categories reserve aux ADMIN via @PreAuthorize.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Matrice Architecturale : 3 Couches x 6 Domaines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280160"/>
            <a:ext cx="3200400" cy="91440"/>
          </a:xfrm>
          <a:prstGeom prst="roundRect">
            <a:avLst>
              <a:gd name="adj" fmla="val 50000"/>
            </a:avLst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PRESENTATION (Angular)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280160"/>
            <a:ext cx="3200400" cy="91440"/>
          </a:xfrm>
          <a:prstGeom prst="roundRect">
            <a:avLst>
              <a:gd name="adj" fmla="val 50000"/>
            </a:avLst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LOGIQUE METIER (Spring Boot)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280160"/>
            <a:ext cx="3200400" cy="91440"/>
          </a:xfrm>
          <a:prstGeom prst="roundRect">
            <a:avLst>
              <a:gd name="adj" fmla="val 50000"/>
            </a:avLst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ACCES AUX DONNEES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96596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Composants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6596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User, Profile,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96596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JPA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328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catalog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46888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Services 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6888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Categorie, Produit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46888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JPA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358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inventory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297180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UI 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97180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Stock par produit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97180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JPA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538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shopping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347472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Etat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7472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Cart, CartItem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347472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JPA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0416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397764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UI Commandes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97764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Order (@Transactional)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397764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JPA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544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448056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Affichage Avis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48056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1F2937"/>
                </a:solidFill>
                <a:latin typeface="Consolas"/>
              </a:rPr>
              <a:t>Avis Metier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4480560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9B82B7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FFFFFF"/>
                </a:solidFill>
                <a:latin typeface="Consolas"/>
              </a:rPr>
              <a:t>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Justification : Les 3 Couches Techniques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127" y="155448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5127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" y="256032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Angular 17 standalone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Bootstrap 5 + signals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Responsabilites :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Affichage UI - validation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047" y="155448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047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LOGIQUE METIER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1367" y="256032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Spring Boot 3.3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Controllers + Services + DTOs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Responsabilites :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Regles metier - orchestration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@Transactional - securite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8967" y="155448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8967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ACCES AUX DONNEES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87" y="256032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Spring Data JPA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Spring Data MongoDB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Responsabilites :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Persistance - requetes</a:t>
            </a:r>
            <a:br/>
            <a:r>
              <a:rPr sz="1200" b="0" i="0">
                <a:solidFill>
                  <a:srgbClr val="FFFFFF"/>
                </a:solidFill>
                <a:latin typeface="Calibri"/>
              </a:rPr>
              <a:t>Abstraction du SGBD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Communication HTTP/JSON  →  appels methodes  →  requetes SQL/Mongo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Justification : Les Domaines (DDD)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Chaque domaine est un sous-package autonome (entity, dto, repository, service, controller)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92024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000240"/>
            <a:ext cx="80000" cy="112016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5760" y="233532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FC18E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60" y="2040240"/>
            <a:ext cx="45564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customer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User, Profile, JWT,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000240"/>
            <a:ext cx="80000" cy="112016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7920" y="233532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DB1C4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7920" y="2040240"/>
            <a:ext cx="45564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catalog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Categorie, Produit, recherche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8328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463280"/>
            <a:ext cx="80000" cy="1120160"/>
          </a:xfrm>
          <a:prstGeom prst="rect">
            <a:avLst/>
          </a:prstGeom>
          <a:solidFill>
            <a:srgbClr val="5BA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5760" y="379836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BA3CB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60" y="3503280"/>
            <a:ext cx="45564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inventory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Stock par produit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463280"/>
            <a:ext cx="80000" cy="112016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920" y="379836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9B82B7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7920" y="3503280"/>
            <a:ext cx="45564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shopping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Cart, CartItem, gestion panier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8463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26320"/>
            <a:ext cx="80000" cy="112016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5760" y="526140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E8946C"/>
                </a:solidFill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5760" y="4966320"/>
            <a:ext cx="45564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billing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Order, OrderItem, checkout transactionnel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463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926320"/>
            <a:ext cx="80000" cy="1120160"/>
          </a:xfrm>
          <a:prstGeom prst="rect">
            <a:avLst/>
          </a:prstGeom>
          <a:solidFill>
            <a:srgbClr val="D8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97920" y="526140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D8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D86A6A"/>
                </a:solidFill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7920" y="4966320"/>
            <a:ext cx="45564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review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Avis (NoSQL MongoDB)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Cartographie de l'Ecosysteme Technologique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5687" y="301752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15687" y="33832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Noyau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Application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E-STORE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822960"/>
            <a:ext cx="21031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914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280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onsolas"/>
              </a:rPr>
              <a:t>Angular 17 standalone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Bootstrap 5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RxJS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TypeScript 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463040"/>
            <a:ext cx="15087" cy="2377440"/>
          </a:xfrm>
          <a:prstGeom prst="line">
            <a:avLst/>
          </a:prstGeom>
          <a:ln w="12700">
            <a:solidFill>
              <a:srgbClr val="4DB1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468880"/>
            <a:ext cx="21031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onsolas"/>
              </a:rPr>
              <a:t>Spring Boot 3.3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Spring Security 6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JWT (jjwt 0.12)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3108960"/>
            <a:ext cx="4587087" cy="731520"/>
          </a:xfrm>
          <a:prstGeom prst="line">
            <a:avLst/>
          </a:prstGeom>
          <a:ln w="12700">
            <a:solidFill>
              <a:srgbClr val="6FC1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5029200"/>
            <a:ext cx="21031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51206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Persistance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54864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onsolas"/>
              </a:rPr>
              <a:t>Spring Data JPA + Hibernate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Spring Data MongoDB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MySQL 8 / H2 / MongoDB 7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80760" y="3840480"/>
            <a:ext cx="15087" cy="1828800"/>
          </a:xfrm>
          <a:prstGeom prst="line">
            <a:avLst/>
          </a:prstGeom>
          <a:ln w="12700">
            <a:solidFill>
              <a:srgbClr val="9B82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0" y="822960"/>
            <a:ext cx="21031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914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1280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onsolas"/>
              </a:rPr>
              <a:t>Maven 3.9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npm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Angular CLI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5847" y="1463040"/>
            <a:ext cx="4556913" cy="2377440"/>
          </a:xfrm>
          <a:prstGeom prst="line">
            <a:avLst/>
          </a:prstGeom>
          <a:ln w="12700">
            <a:solidFill>
              <a:srgbClr val="5BA3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0" y="5029200"/>
            <a:ext cx="21031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51206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54864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onsolas"/>
              </a:rPr>
              <a:t>JUnit 5 + Mockito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9 tests, BUILD SUCCESS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6095847" y="3840480"/>
            <a:ext cx="4556913" cy="1828800"/>
          </a:xfrm>
          <a:prstGeom prst="line">
            <a:avLst/>
          </a:prstGeom>
          <a:ln w="12700">
            <a:solidFill>
              <a:srgbClr val="6FC1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4572000"/>
            <a:ext cx="21031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292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onsolas"/>
              </a:rPr>
              <a:t>Docker Compose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MySQL + Mongo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phpMyAdmin</a:t>
            </a:r>
            <a:br/>
            <a:r>
              <a:rPr sz="900" b="0" i="0">
                <a:solidFill>
                  <a:srgbClr val="1F2937"/>
                </a:solidFill>
                <a:latin typeface="Consolas"/>
              </a:rPr>
              <a:t>mongo-express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508760" y="3840480"/>
            <a:ext cx="4587087" cy="1371600"/>
          </a:xfrm>
          <a:prstGeom prst="line">
            <a:avLst/>
          </a:prstGeom>
          <a:ln w="12700">
            <a:solidFill>
              <a:srgbClr val="9B82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Stack Frontend en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51600"/>
            <a:ext cx="80000" cy="203456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760" y="224388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DB1C4"/>
                </a:solidFill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60" y="149160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Angular 17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Framework SPA, version standalone (pas de NgModule).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TypeScript 5, RxJS 7, signals (nouveaute v17).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51600"/>
            <a:ext cx="80000" cy="203456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97920" y="224388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9B82B7"/>
                </a:solidFill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7920" y="149160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Bootstrap 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Framework CSS responsive.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Grille 12 col, composants (cards, modals, navbar).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Thematique cohesive sans JS Bootstrap.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4904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829040"/>
            <a:ext cx="80000" cy="203456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5760" y="462132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FC18E"/>
                </a:solidFill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60" y="386904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RxJS + Signals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RxJS pour les flux HTTP (Observable).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Signals pour l'etat reactif local (cart.itemCount).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829040"/>
            <a:ext cx="80000" cy="2034560"/>
          </a:xfrm>
          <a:prstGeom prst="rect">
            <a:avLst/>
          </a:prstGeom>
          <a:solidFill>
            <a:srgbClr val="5BA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7920" y="462132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BA3CB"/>
                </a:solidFill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920" y="386904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Tooling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Angular CLI + npm.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Lazy loading par route -&gt; bundle initial 13 ko.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AOT + tree-shaking en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Stack Backend &amp; DevOps en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51600"/>
            <a:ext cx="80000" cy="203456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760" y="224388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FC18E"/>
                </a:solidFill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60" y="149160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Spring Boot 3.3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Web (REST), Validation (Bean Validation),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Data JPA + Data MongoDB,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Security 6, Lombok.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51600"/>
            <a:ext cx="80000" cy="203456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97920" y="224388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9B82B7"/>
                </a:solidFill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7920" y="149160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Persistance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Hibernate (ORM JPA)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MySQL 8 prod / H2 in-memory dev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MongoDB 7 (avis)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4904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829040"/>
            <a:ext cx="80000" cy="203456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5760" y="462132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E8946C"/>
                </a:solidFill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60" y="386904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Securite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Spring Security 6 stateless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JWT HS256 (jjwt 0.12, 24h)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BCrypt sur les mots de passe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829040"/>
            <a:ext cx="80000" cy="2034560"/>
          </a:xfrm>
          <a:prstGeom prst="rect">
            <a:avLst/>
          </a:prstGeom>
          <a:solidFill>
            <a:srgbClr val="5BA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7920" y="462132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BA3CB"/>
                </a:solidFill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920" y="3869040"/>
            <a:ext cx="4556400" cy="195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Build &amp; Test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Maven 3.9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JUnit 5 + Mockito (9 tests)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Docker Compose (4 services)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Modele de donnees relationnel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286000" cy="292608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081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email : String 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password :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role :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371600"/>
            <a:ext cx="2286000" cy="292608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4081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70078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019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phone,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031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city, country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37160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2286000" cy="292608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4081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70078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9019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createdAt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031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updatedAt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37160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1371600"/>
            <a:ext cx="2286000" cy="292608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4081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CartItem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70078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9019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quantity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1031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unitPrice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2286000" cy="292608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684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6110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622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634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description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393192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0" y="3931920"/>
            <a:ext cx="2286000" cy="292608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39684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Product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426110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44622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name, 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46634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price : BigDecimal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48646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imageUrl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93192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0" y="3931920"/>
            <a:ext cx="2286000" cy="292608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39684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Inventory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26110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4622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quantity : 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393192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26880" y="3931920"/>
            <a:ext cx="2286000" cy="292608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39684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Order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26110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44622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orderDate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46634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totalAmount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48646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status : OrderStatus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577840"/>
            <a:ext cx="2286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577840"/>
            <a:ext cx="2286000" cy="292608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6144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OrderItem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9070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id : Long (PK)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108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quantity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30936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onsolas"/>
              </a:rPr>
              <a:t>+ unitPrice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Relations : User 1-1 Profile / 1-1 Cart / 1-N Order / Cart 1-N CartItem / Order 1-N OrderItem / Product 1-1 Inventory / Category 1-N Product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Domaine customer : User &amp;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Inscription, connexion, gestion du profil. C'est ce domaine qui heberge la securite (JWT, BCrypt).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685800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C0FF"/>
                </a:solidFill>
                <a:latin typeface="Consolas"/>
              </a:rPr>
              <a:t>AuthService.register()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309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CDCDC"/>
                </a:solidFill>
                <a:latin typeface="Consolas"/>
              </a:rPr>
              <a:t>@Transactional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public AuthResponseDto register(RegisterDto dto) {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if (userRepository.existsByEmail(dto.getEmail()))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throw new BusinessException(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    "Cet email est deja utilise");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User user = User.builder()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.firstName(dto.getFirstName())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.lastName(dto.getLastName())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.email(dto.getEmail())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.password(passwordEncoder.encode(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    dto.getPassword()))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.role(Role.USER).build();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Profile profile = Profile.builder()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.user(user).build();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user.setProfile(profile);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User saved = userRepository.save(user);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return AuthResponseDto.builder()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.token(jwtService.generateToken(saved))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.user(UserDto.from(saved)).build();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4297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817360"/>
            <a:ext cx="80000" cy="84584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8079" y="1857360"/>
            <a:ext cx="389768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BCrypt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Hash one-way avec sel aleatoire (cout 10).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Impossible de retrouver le mot de passe.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834640"/>
            <a:ext cx="4297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2914640"/>
            <a:ext cx="80000" cy="84584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8079" y="2954640"/>
            <a:ext cx="389768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@JsonIgnore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Le password n'est JAMAIS serialise dans les reponses JSON.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931920"/>
            <a:ext cx="4297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011920"/>
            <a:ext cx="80000" cy="84584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8079" y="4051920"/>
            <a:ext cx="389768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Email unique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@UniqueConstraint + check existsByEmail.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Retour HTTP 409 Conflict si deja pris.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5029200"/>
            <a:ext cx="4297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5109200"/>
            <a:ext cx="80000" cy="84584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8079" y="5149200"/>
            <a:ext cx="389768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Profile cascade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@OneToOne mappedBy + cascade ALL.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Le profil est cree avec l'utilisateur.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Domaine catalog : recherche paginee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Categories + produits avec recherche combinee (mot-cle + filtre categorie) et pagination.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777240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C0FF"/>
                </a:solidFill>
                <a:latin typeface="Consolas"/>
              </a:rPr>
              <a:t>ProductRepository.search() - JPQL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2237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Consolas"/>
              </a:rPr>
              <a:t>public interface ProductRepository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extends JpaRepository&lt;Product, Long&gt; {</a:t>
            </a:r>
            <a:br/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@Query("""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SELECT p FROM Product p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WHERE (:categoryId IS NULL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      OR p.category.id = :categoryId)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AND (:q IS NULL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      OR LOWER(p.name)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          LIKE LOWER(CONCAT('%', :q, '%'))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      OR LOWER(p.description)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          LIKE LOWER(CONCAT('%', :q, '%')))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""")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Page&lt;Product&gt; search(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@Param("categoryId") Long categoryId,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@Param("q") String q,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Pageable pageable);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73736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817360"/>
            <a:ext cx="80000" cy="84584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2480" y="1857360"/>
            <a:ext cx="325760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Requete unique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Filtre + recherche en une seule requete 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8346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2914640"/>
            <a:ext cx="80000" cy="84584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2480" y="2954640"/>
            <a:ext cx="325760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Parametres optionnels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IS NULL OR ... permet de tout combiner.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931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4011920"/>
            <a:ext cx="80000" cy="84584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2480" y="4051920"/>
            <a:ext cx="325760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Pagination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Pageable pris en charge par Spring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50292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5109200"/>
            <a:ext cx="80000" cy="84584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2480" y="5149200"/>
            <a:ext cx="3257600" cy="76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Insensible casse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LOWER + LIKE %% : la recherche capte 'XPS' / 'xps'.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Domaine inventory : gestion du 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Stock isole dans une entite separee (Inventory) reliee a Product par @OneToOne.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id, name, price</a:t>
            </a:r>
            <a:br/>
            <a:r>
              <a:rPr sz="1000" b="0" i="0">
                <a:solidFill>
                  <a:srgbClr val="FFFFFF"/>
                </a:solidFill>
                <a:latin typeface="Consolas"/>
              </a:rPr>
              <a:t>imageUrl, category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2743200"/>
            <a:ext cx="146304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66160" y="2377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onsolas"/>
              </a:rPr>
              <a:t>@OneToOne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26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1 ↔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01168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5BA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377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803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id, quantity</a:t>
            </a:r>
            <a:br/>
            <a:r>
              <a:rPr sz="1000" b="0" i="0">
                <a:solidFill>
                  <a:srgbClr val="FFFFFF"/>
                </a:solidFill>
                <a:latin typeface="Consolas"/>
              </a:rPr>
              <a:t>product (FK)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194800"/>
            <a:ext cx="80000" cy="112016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5760" y="452988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FC18E"/>
                </a:solidFill>
              </a:rPr>
              <a:t>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60" y="4234800"/>
            <a:ext cx="27276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checkAvailability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Verifie sans modifier : leve BusinessException si quantity insuffisante.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1148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94800"/>
            <a:ext cx="80000" cy="112016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7680" y="452988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E8946C"/>
                </a:solidFill>
              </a:rPr>
              <a:t>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7680" y="4234800"/>
            <a:ext cx="27276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decrement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Verifie ET decrement : utilisee pendant le checkout.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194800"/>
            <a:ext cx="80000" cy="112016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09600" y="452988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DB1C4"/>
                </a:solidFill>
              </a:rPr>
              <a:t>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9600" y="4234800"/>
            <a:ext cx="27276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update (admin)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Permet a l'admin de reapprovisionner via PUT /api/inventory/{id}.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Cas d'usage : appele depuis CartService (avant ajout) et OrderService (avant validation).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Domaine shopping : gestion du panier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2240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240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CartItem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645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onsolas"/>
              </a:rPr>
              <a:t>1 - 1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onsolas"/>
              </a:rPr>
              <a:t>1 -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onsolas"/>
              </a:rPr>
              <a:t>N - 1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2468880"/>
            <a:ext cx="45720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2468880"/>
            <a:ext cx="45720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2468880"/>
            <a:ext cx="45720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" y="39319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11920"/>
            <a:ext cx="80000" cy="130304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5760" y="44384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FC18E"/>
                </a:solidFill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60" y="4051920"/>
            <a:ext cx="2727600" cy="122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addItem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Verifie le stock global (qty existante + ajoutee) avant insertion.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Fige le prix unitaire au moment de l'ajout.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319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4011920"/>
            <a:ext cx="80000" cy="130304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77680" y="44384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9B82B7"/>
                </a:solidFill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7680" y="4051920"/>
            <a:ext cx="2727600" cy="122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updateItem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Met a jour la quantite avec checkAvailability.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Requiert que l'item appartienne au panier de l'utilisateur courant.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11920"/>
            <a:ext cx="80000" cy="130304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9600" y="44384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E8946C"/>
                </a:solidFill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9600" y="4051920"/>
            <a:ext cx="2727600" cy="122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clear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Vide le panier.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Utilise apres validation de commande.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Garantie d'Integrite : Le Compteur Atomique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64008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0C0FF"/>
                </a:solidFill>
                <a:latin typeface="Consolas"/>
              </a:rPr>
              <a:t>CODE BLOCK : Transactional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8521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CDCDC"/>
                </a:solidFill>
                <a:latin typeface="Consolas"/>
              </a:rPr>
              <a:t>@Transactional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public OrderDto checkout() {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Cart cart = cartService.getOrCreateCart(user);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if (cart.getItems().isEmpty())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    throw new BusinessException(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        "Votre panier est vide");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for (CartItem ci : cart.getItems())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    inventoryService.checkAvailability(...);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Order order = Order.builder()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    .user(user).status(PENDING).build();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for (CartItem ci : cart.getItems()) {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    order.getItems().add(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        OrderItem.builder()...build());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    inventoryService.decrement(...);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}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order.setStatus(CONFIRMED);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Order saved = orderRepository.save(order);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cartService.clearCart(cart);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    return OrderDto.from(saved);</a:t>
            </a:r>
            <a:br/>
            <a:r>
              <a:rPr sz="1050" b="0" i="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371600"/>
            <a:ext cx="48463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06640" y="1828800"/>
            <a:ext cx="1280160" cy="1280160"/>
          </a:xfrm>
          <a:prstGeom prst="ellipse">
            <a:avLst/>
          </a:prstGeom>
          <a:solidFill>
            <a:srgbClr val="6FC18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43800" y="192024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FC18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1031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Verification simultanee</a:t>
            </a:r>
            <a:br/>
            <a:r>
              <a:rPr sz="1200" b="1" i="0">
                <a:solidFill>
                  <a:srgbClr val="1F2937"/>
                </a:solidFill>
                <a:latin typeface="Calibri"/>
              </a:rPr>
              <a:t>des stocks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3200400"/>
            <a:ext cx="1280160" cy="1280160"/>
          </a:xfrm>
          <a:prstGeom prst="ellipse">
            <a:avLst/>
          </a:prstGeom>
          <a:solidFill>
            <a:srgbClr val="4DB1C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43800" y="329184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4DB1C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4747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Creation commande</a:t>
            </a:r>
            <a:br/>
            <a:r>
              <a:rPr sz="1200" b="1" i="0">
                <a:solidFill>
                  <a:srgbClr val="1F2937"/>
                </a:solidFill>
                <a:latin typeface="Calibri"/>
              </a:rPr>
              <a:t>+ Decrement stock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4572000"/>
            <a:ext cx="1280160" cy="1280160"/>
          </a:xfrm>
          <a:prstGeom prst="ellipse">
            <a:avLst/>
          </a:prstGeom>
          <a:solidFill>
            <a:srgbClr val="E8946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43800" y="466344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E8946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8463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Vidage du panier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943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FC18E"/>
                </a:solidFill>
                <a:latin typeface="Calibri"/>
              </a:rPr>
              <a:t>🔒 Atomicite ACID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30936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Tout ou rien. Si une etape echoue, toutes les operations precedentes sont annulees.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Justification : La Persistance Hybride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463040"/>
            <a:ext cx="0" cy="384048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6FC18E"/>
                </a:solidFill>
                <a:latin typeface="Calibri"/>
              </a:rPr>
              <a:t>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MySQL 8 - Le Roc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Relationnel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40320"/>
            <a:ext cx="80000" cy="61724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0080" y="2680320"/>
            <a:ext cx="462920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Paradigme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SQL Relationnel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Structure stricte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09000"/>
            <a:ext cx="80000" cy="61724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80" y="3549000"/>
            <a:ext cx="462920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Propriete cle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Transactions atomiques (ACID)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77680"/>
            <a:ext cx="80000" cy="61724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080" y="4417680"/>
            <a:ext cx="462920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Cas d'usage E-STORE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Stock, Panier, Commandes,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Facturation, Utilisateurs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9B82B7"/>
                </a:solidFill>
                <a:latin typeface="Consolas"/>
              </a:rPr>
              <a:t>{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MongoDB 7 - La Flexibilite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Documentaire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60320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640320"/>
            <a:ext cx="80000" cy="61724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0800" y="2680320"/>
            <a:ext cx="481208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Paradigme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NoSQL (JSON Document)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29000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509000"/>
            <a:ext cx="80000" cy="61724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0800" y="3549000"/>
            <a:ext cx="481208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Propriete cle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Schema flexible, optimise lectures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frequentes et donnees semi-structurees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97680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377680"/>
            <a:ext cx="80000" cy="61724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0800" y="4417680"/>
            <a:ext cx="481208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Cas d'usage E-STORE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Les Avis (Reviews)</a:t>
            </a:r>
            <a:br/>
            <a:r>
              <a:rPr sz="1100">
                <a:solidFill>
                  <a:srgbClr val="1F2937"/>
                </a:solidFill>
                <a:latin typeface="Calibri"/>
              </a:rPr>
              <a:t>findByProductIdOrderByCreatedAtDesc()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77840"/>
            <a:ext cx="11277295" cy="731520"/>
          </a:xfrm>
          <a:prstGeom prst="roundRect">
            <a:avLst>
              <a:gd name="adj" fmla="val 20000"/>
            </a:avLst>
          </a:prstGeom>
          <a:solidFill>
            <a:srgbClr val="FFF5DB"/>
          </a:solidFill>
          <a:ln w="12700">
            <a:solidFill>
              <a:srgbClr val="E6B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6B74F"/>
                </a:solidFill>
                <a:latin typeface="Calibri"/>
              </a:rP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6692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Ingenierie de Resilience : si MongoDB est indisponible, l'application principale continue (avec un simple avertissement). Le seeder est defensif.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Domaine review : MongoDB en pratique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54864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C0FF"/>
                </a:solidFill>
                <a:latin typeface="Consolas"/>
              </a:rPr>
              <a:t>Document JSON dans la collection 'reviews'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Consolas"/>
              </a:rPr>
              <a:t>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"_id": ObjectId("671f3a2..."),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"productId": 1,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"userId": 2,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"authorName": "Nouhaila Test",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"rating": 5,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"comment": "Excellent ordinateur,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    performances au top !",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"createdAt": ISODate("2026-04-28T...")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66928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C0FF"/>
                </a:solidFill>
                <a:latin typeface="Consolas"/>
              </a:rPr>
              <a:t>ReviewRepository - methodes derivees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1206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Consolas"/>
              </a:rPr>
              <a:t>public interface ReviewRepository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extends MongoRepository&lt;Review, String&gt; {</a:t>
            </a:r>
            <a:br/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List&lt;Review&gt;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findByProductIdOrderByCreatedAtDesc(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Long productId);</a:t>
            </a:r>
            <a:br/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List&lt;Review&gt;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findByUserIdOrderByCreatedAtDesc(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Long userId);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017760"/>
            <a:ext cx="80000" cy="112016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7200" y="53528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9B82B7"/>
                </a:solidFill>
              </a:rP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7200" y="5057760"/>
            <a:ext cx="27276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Schema flexible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Les avis n'ont pas de relation stricte. Ajouter un champ ne casse pas l'existant.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9377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5017760"/>
            <a:ext cx="80000" cy="112016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3400" y="53528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FC18E"/>
                </a:solidFill>
              </a:rPr>
              <a:t>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3400" y="5057760"/>
            <a:ext cx="27276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Methodes derivees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Spring Data Mongo genere la requete a partir du nom de la methode.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9377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5017760"/>
            <a:ext cx="80000" cy="112016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9600" y="53528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E8946C"/>
                </a:solidFill>
              </a:rPr>
              <a:t>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9600" y="5057760"/>
            <a:ext cx="2727600" cy="104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Index sur productId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@Indexed accelere les recherches par produit (le cas le plus frequent).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Mecanisme de Securite : Cycle de Vie JWT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Navigateur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Serveur Spring Boot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D8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DA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380000" cy="380000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2331720"/>
            <a:ext cx="58521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1168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onsolas"/>
              </a:rPr>
              <a:t>1. POST /api/auth/login</a:t>
            </a:r>
            <a:br/>
            <a:r>
              <a:rPr sz="1100" b="0" i="0">
                <a:solidFill>
                  <a:srgbClr val="1F2937"/>
                </a:solidFill>
                <a:latin typeface="Consolas"/>
              </a:rPr>
              <a:t>(email + password)</a:t>
            </a:r>
          </a:p>
        </p:txBody>
      </p:sp>
      <p:sp>
        <p:nvSpPr>
          <p:cNvPr id="10" name="Oval 9"/>
          <p:cNvSpPr/>
          <p:nvPr/>
        </p:nvSpPr>
        <p:spPr>
          <a:xfrm>
            <a:off x="7040880" y="2743200"/>
            <a:ext cx="380000" cy="380000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432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2. Validation AuthService via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passwordEncoder.matches()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(BCrypt, cout 10)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657600"/>
            <a:ext cx="380000" cy="380000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6576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3. Generation JwtService :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Jwts.builder().signWith(key)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(HS256, expir. 24h, claims: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uid, role, name)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188720" y="4297680"/>
            <a:ext cx="58521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28800" y="4023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Token genere renvoye au client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754880"/>
            <a:ext cx="380000" cy="380000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54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4. Stockage du token dans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localStorage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('estore.token')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669280"/>
            <a:ext cx="380000" cy="380000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5852160"/>
            <a:ext cx="58521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11680" y="5532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onsolas"/>
              </a:rPr>
              <a:t>5. Nouvelle requete avec AuthInterceptor :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Bearer &lt;token&gt;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0" y="5943600"/>
            <a:ext cx="380000" cy="380000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8521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6. JwtAuthenticationFilter valide.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Acces aux endpoints (ex:</a:t>
            </a:r>
            <a:br/>
            <a:r>
              <a:rPr sz="1000" b="0" i="0">
                <a:solidFill>
                  <a:srgbClr val="1F2937"/>
                </a:solidFill>
                <a:latin typeface="Consolas"/>
              </a:rPr>
              <a:t>@PreAuthorize hasRole('ADMIN'))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API REST : matrice d'endpoints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128016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Methode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188720"/>
            <a:ext cx="484632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88720"/>
            <a:ext cx="164592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188720"/>
            <a:ext cx="420624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188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1280160" cy="292608"/>
          </a:xfrm>
          <a:prstGeom prst="rect">
            <a:avLst/>
          </a:prstGeom>
          <a:solidFill>
            <a:srgbClr val="4DB1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554480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55448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/api/auth/register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554480"/>
            <a:ext cx="16459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Public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Inscription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47088"/>
            <a:ext cx="1280160" cy="292608"/>
          </a:xfrm>
          <a:prstGeom prst="rect">
            <a:avLst/>
          </a:prstGeom>
          <a:solidFill>
            <a:srgbClr val="4DB1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84708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1847088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184708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/api/auth/login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847088"/>
            <a:ext cx="16459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84708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Public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47088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84708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Connexion (renvoie JWT)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139696"/>
            <a:ext cx="1280160" cy="292608"/>
          </a:xfrm>
          <a:prstGeom prst="rect">
            <a:avLst/>
          </a:prstGeom>
          <a:solidFill>
            <a:srgbClr val="6FC18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13969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2139696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1396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/api/products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139696"/>
            <a:ext cx="16459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13969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Public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139696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213969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Catalogue (q, categoryId, page, size)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432304"/>
            <a:ext cx="1280160" cy="292608"/>
          </a:xfrm>
          <a:prstGeom prst="rect">
            <a:avLst/>
          </a:prstGeom>
          <a:solidFill>
            <a:srgbClr val="6FC18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43230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2432304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37360" y="243230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/api/products/{id}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432304"/>
            <a:ext cx="16459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43230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Public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2432304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243230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Detail produit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724912"/>
            <a:ext cx="1280160" cy="292608"/>
          </a:xfrm>
          <a:prstGeom prst="rect">
            <a:avLst/>
          </a:prstGeom>
          <a:solidFill>
            <a:srgbClr val="4DB1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7249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2724912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7360" y="272491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/api/products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2724912"/>
            <a:ext cx="1645920" cy="292608"/>
          </a:xfrm>
          <a:prstGeom prst="rect">
            <a:avLst/>
          </a:prstGeom>
          <a:solidFill>
            <a:srgbClr val="FFE5CC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272491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ADMIN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2724912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272491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Creer un produit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017520"/>
            <a:ext cx="1280160" cy="292608"/>
          </a:xfrm>
          <a:prstGeom prst="rect">
            <a:avLst/>
          </a:prstGeom>
          <a:solidFill>
            <a:srgbClr val="9B82B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3017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0" y="3017520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37360" y="301752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/api/products/{id}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3017520"/>
            <a:ext cx="1645920" cy="292608"/>
          </a:xfrm>
          <a:prstGeom prst="rect">
            <a:avLst/>
          </a:prstGeom>
          <a:solidFill>
            <a:srgbClr val="FFE5CC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301752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ADMIN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3017520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301752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Modifier un produit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310128"/>
            <a:ext cx="1280160" cy="292608"/>
          </a:xfrm>
          <a:prstGeom prst="rect">
            <a:avLst/>
          </a:prstGeom>
          <a:solidFill>
            <a:srgbClr val="D86A6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1012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3310128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331012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/api/products/{id}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3310128"/>
            <a:ext cx="1645920" cy="292608"/>
          </a:xfrm>
          <a:prstGeom prst="rect">
            <a:avLst/>
          </a:prstGeom>
          <a:solidFill>
            <a:srgbClr val="FFE5CC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331012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ADMIN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3310128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0" y="331012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Supprimer un produit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602736"/>
            <a:ext cx="1280160" cy="292608"/>
          </a:xfrm>
          <a:prstGeom prst="rect">
            <a:avLst/>
          </a:prstGeom>
          <a:solidFill>
            <a:srgbClr val="6FC18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60273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0" y="3602736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37360" y="360273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/api/categories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3602736"/>
            <a:ext cx="16459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92240" y="360273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Public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3602736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0" y="36027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Liste des categories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3895344"/>
            <a:ext cx="1280160" cy="292608"/>
          </a:xfrm>
          <a:prstGeom prst="rect">
            <a:avLst/>
          </a:prstGeom>
          <a:solidFill>
            <a:srgbClr val="4DB1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389534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45920" y="3895344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37360" y="389534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/api/categories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92240" y="3895344"/>
            <a:ext cx="1645920" cy="292608"/>
          </a:xfrm>
          <a:prstGeom prst="rect">
            <a:avLst/>
          </a:prstGeom>
          <a:solidFill>
            <a:srgbClr val="FFE5CC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0" y="389534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ADMIN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38160" y="3895344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0" y="389534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Creer une categorie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4187952"/>
            <a:ext cx="1280160" cy="292608"/>
          </a:xfrm>
          <a:prstGeom prst="rect">
            <a:avLst/>
          </a:prstGeom>
          <a:solidFill>
            <a:srgbClr val="6FC18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1879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0" y="4187952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737360" y="418795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/api/cart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92240" y="4187952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92240" y="418795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4187952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0" y="418795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Panier de l'utilisateur courant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4480560"/>
            <a:ext cx="1280160" cy="292608"/>
          </a:xfrm>
          <a:prstGeom prst="rect">
            <a:avLst/>
          </a:prstGeom>
          <a:solidFill>
            <a:srgbClr val="4DB1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760" y="44805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45920" y="4480560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37360" y="448056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/api/cart/add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92240" y="4480560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92240" y="448056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38160" y="4480560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2960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Ajouter un produit au panier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5760" y="4773168"/>
            <a:ext cx="1280160" cy="292608"/>
          </a:xfrm>
          <a:prstGeom prst="rect">
            <a:avLst/>
          </a:prstGeom>
          <a:solidFill>
            <a:srgbClr val="9B82B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5760" y="47731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PUT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0" y="4773168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737360" y="477316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/api/cart/update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92240" y="4773168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92240" y="477316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38160" y="4773168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9600" y="477316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Modifier la quantite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60" y="5065776"/>
            <a:ext cx="1280160" cy="292608"/>
          </a:xfrm>
          <a:prstGeom prst="rect">
            <a:avLst/>
          </a:prstGeom>
          <a:solidFill>
            <a:srgbClr val="D86A6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506577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45920" y="5065776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737360" y="506577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/api/cart/remove/{itemId}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92240" y="5065776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92240" y="506577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38160" y="5065776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29600" y="506577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Retirer un article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65760" y="5358384"/>
            <a:ext cx="1280160" cy="292608"/>
          </a:xfrm>
          <a:prstGeom prst="rect">
            <a:avLst/>
          </a:prstGeom>
          <a:solidFill>
            <a:srgbClr val="D86A6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5760" y="53583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45920" y="5358384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737360" y="535838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/api/cart/clear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92240" y="5358384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92240" y="535838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38160" y="5358384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29600" y="53583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Vider le panier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5760" y="5650992"/>
            <a:ext cx="1280160" cy="292608"/>
          </a:xfrm>
          <a:prstGeom prst="rect">
            <a:avLst/>
          </a:prstGeom>
          <a:solidFill>
            <a:srgbClr val="4DB1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5760" y="565099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645920" y="5650992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737360" y="565099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/api/orders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92240" y="5650992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92240" y="565099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38160" y="5650992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29600" y="565099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Valider la commande (transactionnel)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" y="5943600"/>
            <a:ext cx="1280160" cy="292608"/>
          </a:xfrm>
          <a:prstGeom prst="rect">
            <a:avLst/>
          </a:prstGeom>
          <a:solidFill>
            <a:srgbClr val="6FC18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594360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645920" y="5943600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737360" y="594360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/api/orders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92240" y="5943600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92240" y="594360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138160" y="5943600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229600" y="594360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Historique des commandes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65760" y="6236208"/>
            <a:ext cx="1280160" cy="292608"/>
          </a:xfrm>
          <a:prstGeom prst="rect">
            <a:avLst/>
          </a:prstGeom>
          <a:solidFill>
            <a:srgbClr val="4DB1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65760" y="623620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0" y="6236208"/>
            <a:ext cx="4846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737360" y="623620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/api/reviews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92240" y="6236208"/>
            <a:ext cx="1645920" cy="292608"/>
          </a:xfrm>
          <a:prstGeom prst="rect">
            <a:avLst/>
          </a:prstGeom>
          <a:solidFill>
            <a:srgbClr val="E5F1FB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92240" y="623620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Authentifie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138160" y="6236208"/>
            <a:ext cx="42062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29600" y="62362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Deposer un avis (Mongo)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65760" y="6528816"/>
            <a:ext cx="1280160" cy="292608"/>
          </a:xfrm>
          <a:prstGeom prst="rect">
            <a:avLst/>
          </a:prstGeom>
          <a:solidFill>
            <a:srgbClr val="6FC18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65760" y="652881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645920" y="6528816"/>
            <a:ext cx="48463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737360" y="652881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/api/reviews/product/{id}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492240" y="6528816"/>
            <a:ext cx="164592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492240" y="652881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Public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138160" y="6528816"/>
            <a:ext cx="4206240" cy="292608"/>
          </a:xfrm>
          <a:prstGeom prst="rect">
            <a:avLst/>
          </a:prstGeom>
          <a:solidFill>
            <a:srgbClr val="F5F7FA"/>
          </a:solidFill>
          <a:ln w="3810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29600" y="652881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Avis d'un produit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Facade Moderne : Ingenierie Angular 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127" y="137160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43887" y="1645920"/>
            <a:ext cx="640080" cy="64008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4DB1C4"/>
                </a:solidFill>
              </a:rPr>
              <a:t>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8007" y="242316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Architecture</a:t>
            </a:r>
            <a:br/>
            <a:r>
              <a:rPr sz="1500" b="1" i="0">
                <a:solidFill>
                  <a:srgbClr val="1F2937"/>
                </a:solidFill>
                <a:latin typeface="Calibri"/>
              </a:rPr>
              <a:t>Standalone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007" y="320040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Suppression totale des NgModule.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Code plus concis et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composants isoles.</a:t>
            </a:r>
            <a:br/>
            <a:br/>
            <a:r>
              <a:rPr sz="1050" b="0" i="0">
                <a:solidFill>
                  <a:srgbClr val="1F2937"/>
                </a:solidFill>
                <a:latin typeface="Calibri"/>
              </a:rPr>
              <a:t>Lazy loading active par route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generant un bundle initial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ultra-leger de 13 ko, chargeant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les features a la demande.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7047" y="137160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75807" y="1645920"/>
            <a:ext cx="640080" cy="64008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5BA3CB"/>
                </a:solidFill>
              </a:rPr>
              <a:t>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9927" y="242316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Reactivite via</a:t>
            </a:r>
            <a:br/>
            <a:r>
              <a:rPr sz="1500" b="1" i="0">
                <a:solidFill>
                  <a:srgbClr val="1F2937"/>
                </a:solidFill>
                <a:latin typeface="Calibri"/>
              </a:rPr>
              <a:t>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320040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Gestion d'etat moderne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remplacant les souscriptions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RxJS complexes.</a:t>
            </a:r>
            <a:br/>
            <a:br/>
            <a:r>
              <a:rPr sz="1050" b="0" i="0">
                <a:solidFill>
                  <a:srgbClr val="1F2937"/>
                </a:solidFill>
                <a:latin typeface="Calibri"/>
              </a:rPr>
              <a:t>Exemple :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cart.itemCount() declenche la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mise a jour instantanee et sans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friction du badge du panier dans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le header 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8967" y="137160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07727" y="1645920"/>
            <a:ext cx="640080" cy="64008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9B82B7"/>
                </a:solidFill>
              </a:rPr>
              <a:t>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47" y="242316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Intercepteurs &amp;</a:t>
            </a:r>
            <a:br/>
            <a:r>
              <a:rPr sz="1500" b="1" i="0">
                <a:solidFill>
                  <a:srgbClr val="1F2937"/>
                </a:solidFill>
                <a:latin typeface="Calibri"/>
              </a:rPr>
              <a:t>Cohesion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847" y="320040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Gestion centralisee du flux :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'AuthInterceptor' attache le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Bearer token silencieusement.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'ErrorInterceptor' capte les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401/4xx en affichant des toasts.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'AuthGuard' verrouille les</a:t>
            </a:r>
            <a:br/>
            <a:r>
              <a:rPr sz="1050" b="0" i="0">
                <a:solidFill>
                  <a:srgbClr val="1F2937"/>
                </a:solidFill>
                <a:latin typeface="Calibri"/>
              </a:rPr>
              <a:t>routes privees.</a:t>
            </a:r>
            <a:br/>
            <a:br/>
            <a:r>
              <a:rPr sz="1050" b="0" i="0">
                <a:solidFill>
                  <a:srgbClr val="1F2937"/>
                </a:solidFill>
                <a:latin typeface="Calibri"/>
              </a:rPr>
              <a:t>UI cohesive via Bootstrap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647" y="6035040"/>
            <a:ext cx="5486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2647" y="60350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Experience Utilisateur Fluide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Architecture Frontend : core / shared /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3383280" cy="4572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onsolas"/>
              </a:rPr>
              <a:t>core/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models/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user.model.ts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product.model.ts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cart.model.ts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16936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order.model.ts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review.model.ts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services/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auth.service.ts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2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cart.service.ts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77056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product.service.ts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order.service.ts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110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review.service.ts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5312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user.service.ts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45152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toast.service.ts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37176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guards/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auth.guard.ts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21224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interceptors/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1324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auth.interceptor.ts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05272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error.interceptor.ts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1371600"/>
            <a:ext cx="3383280" cy="4572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onsolas"/>
              </a:rPr>
              <a:t>shared/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148840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components/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340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header.component.ts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5328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footer.component.ts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724912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loader.component.ts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916936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toast.component.ts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1371600"/>
            <a:ext cx="3383280" cy="4572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onsolas"/>
              </a:rPr>
              <a:t>features/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148840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auth/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340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login.component.ts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5328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register.component.ts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724912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catalog/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916936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product-list.component.ts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10896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product-detail.component.ts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300984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cart/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49300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cart.component.ts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685032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orders/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877056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orders.component.ts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069080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profile/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6110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profile.component.ts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453128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onsolas"/>
              </a:rPr>
              <a:t>reviews/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645152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review-form.component.ts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Convention : core (singleton, providedIn: 'root') / shared (composants reutilises) / features (pages metier).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Reactivite Signals : exemple CartService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685800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C0FF"/>
                </a:solidFill>
                <a:latin typeface="Consolas"/>
              </a:rPr>
              <a:t>core/services/cart.service.ts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3093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CDCDC"/>
                </a:solidFill>
                <a:latin typeface="Consolas"/>
              </a:rPr>
              <a:t>@Injectable({ providedIn: 'root' })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export class CartService {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private http = inject(HttpClient);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private base = `${env.apiUrl}/cart`;</a:t>
            </a:r>
            <a:br/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readonly cart = signal&lt;Cart | null&gt;(null);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readonly itemCount = signal&lt;number&gt;(0);</a:t>
            </a:r>
            <a:br/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add(productId: number, quantity: number) {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return this.http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.post&lt;ApiResponse&lt;Cart&gt;&gt;(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`${this.base}/add`,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  { productId, quantity })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  .pipe(tap((r) =&gt; this.update(r.data)));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}</a:t>
            </a:r>
            <a:br/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private update(cart: Cart | undefined): void {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if (!cart) return;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this.cart.set(cart);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  this.itemCount.set(cart.itemCount);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  }</a:t>
            </a:r>
            <a:br/>
            <a:r>
              <a:rPr sz="1000" b="0" i="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Mecanisme reactif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2091680"/>
            <a:ext cx="80000" cy="61724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9520" y="2131680"/>
            <a:ext cx="389768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1. Composant Header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lit cartSvc.itemCount()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2608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3006080"/>
            <a:ext cx="80000" cy="61724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9520" y="3046080"/>
            <a:ext cx="389768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2. Angular detecte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la dependance au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84048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920480"/>
            <a:ext cx="80000" cy="61724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9520" y="3960480"/>
            <a:ext cx="389768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3. Si .set() change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le DOM est invalide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75488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4834880"/>
            <a:ext cx="80000" cy="61724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9520" y="4874880"/>
            <a:ext cx="3897680" cy="53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4. Re-render automatique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du badge du panier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Interceptors : Auth +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66928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C0FF"/>
                </a:solidFill>
                <a:latin typeface="Consolas"/>
              </a:rPr>
              <a:t>auth.interceptor.ts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Consolas"/>
              </a:rPr>
              <a:t>export const authInterceptor: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HttpInterceptorFn = (req, next) =&gt; 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const auth = inject(AuthService);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const token = auth.token;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if (!token) return next(req);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return next(req.clone({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setHeaders: 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Authorization: `Bearer ${token}`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}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}));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9496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C0FF"/>
                </a:solidFill>
                <a:latin typeface="Consolas"/>
              </a:rPr>
              <a:t>error.interceptor.ts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Consolas"/>
              </a:rPr>
              <a:t>return next(req).pipe(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catchError((err: HttpErrorResponse) =&gt; 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const msg = err.error?.message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        ?? `HTTP ${err.status}`;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if (err.status === 401) 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auth.logout();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toast.error('Session expiree');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} else if (err.status !== 0) 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toast.error(msg);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} else {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  toast.error('Serveur injoignable');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}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  return throwError(() =&gt; err);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  })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86240"/>
            <a:ext cx="80000" cy="166880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5760" y="48956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DB1C4"/>
                </a:solidFill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760" y="4326240"/>
            <a:ext cx="2727600" cy="15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AuthInterceptor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Attache automatiquement le Bearer token JWT a chaque requete sortante.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2062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286240"/>
            <a:ext cx="80000" cy="166880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77680" y="48956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9B82B7"/>
                </a:solidFill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7680" y="4326240"/>
            <a:ext cx="2727600" cy="15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ErrorInterceptor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Capte les erreurs HTTP : 401 -&gt; logout, 4xx -&gt; toast, 0 -&gt; serveur down.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2062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286240"/>
            <a:ext cx="80000" cy="166880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9600" y="4895640"/>
            <a:ext cx="450000" cy="4500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FC18E"/>
                </a:solidFill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9600" y="4326240"/>
            <a:ext cx="2727600" cy="15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AuthGuard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Bloque l'acces a /cart, /orders, /profile pour les visiteurs non connectes.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Parcours Utilisateur : Tracabilite de la Demonstration</a:t>
            </a:r>
          </a:p>
        </p:txBody>
      </p:sp>
      <p:sp>
        <p:nvSpPr>
          <p:cNvPr id="3" name="Oval 2"/>
          <p:cNvSpPr/>
          <p:nvPr/>
        </p:nvSpPr>
        <p:spPr>
          <a:xfrm>
            <a:off x="746607" y="2377440"/>
            <a:ext cx="457200" cy="457200"/>
          </a:xfrm>
          <a:prstGeom prst="ellipse">
            <a:avLst/>
          </a:prstGeom>
          <a:solidFill>
            <a:srgbClr val="6FC18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54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Exploration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654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798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Catalogue : 12 produits,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recherche, filtre.</a:t>
            </a:r>
          </a:p>
        </p:txBody>
      </p:sp>
      <p:sp>
        <p:nvSpPr>
          <p:cNvPr id="7" name="Oval 6"/>
          <p:cNvSpPr/>
          <p:nvPr/>
        </p:nvSpPr>
        <p:spPr>
          <a:xfrm>
            <a:off x="2209647" y="2377440"/>
            <a:ext cx="457200" cy="457200"/>
          </a:xfrm>
          <a:prstGeom prst="ellipse">
            <a:avLst/>
          </a:prstGeom>
          <a:solidFill>
            <a:srgbClr val="4DB1C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958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958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102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Fiche produit : Prix, stock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en temps reel,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avis Mongo.</a:t>
            </a:r>
          </a:p>
        </p:txBody>
      </p:sp>
      <p:sp>
        <p:nvSpPr>
          <p:cNvPr id="11" name="Oval 10"/>
          <p:cNvSpPr/>
          <p:nvPr/>
        </p:nvSpPr>
        <p:spPr>
          <a:xfrm>
            <a:off x="3672687" y="2377440"/>
            <a:ext cx="457200" cy="457200"/>
          </a:xfrm>
          <a:prstGeom prst="ellipse">
            <a:avLst/>
          </a:prstGeom>
          <a:solidFill>
            <a:srgbClr val="E8946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262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Friction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9262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9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406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Tentative d'ajout au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panier -&gt; Redirection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(Non-authentifie).</a:t>
            </a:r>
          </a:p>
        </p:txBody>
      </p:sp>
      <p:sp>
        <p:nvSpPr>
          <p:cNvPr id="15" name="Oval 14"/>
          <p:cNvSpPr/>
          <p:nvPr/>
        </p:nvSpPr>
        <p:spPr>
          <a:xfrm>
            <a:off x="5135727" y="2377440"/>
            <a:ext cx="457200" cy="457200"/>
          </a:xfrm>
          <a:prstGeom prst="ellipse">
            <a:avLst/>
          </a:prstGeom>
          <a:solidFill>
            <a:srgbClr val="5BA3C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66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Authentification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566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A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710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Login :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user@estore.ma</a:t>
            </a:r>
          </a:p>
        </p:txBody>
      </p:sp>
      <p:sp>
        <p:nvSpPr>
          <p:cNvPr id="19" name="Oval 18"/>
          <p:cNvSpPr/>
          <p:nvPr/>
        </p:nvSpPr>
        <p:spPr>
          <a:xfrm>
            <a:off x="6598767" y="2377440"/>
            <a:ext cx="457200" cy="457200"/>
          </a:xfrm>
          <a:prstGeom prst="ellipse">
            <a:avLst/>
          </a:prstGeom>
          <a:solidFill>
            <a:srgbClr val="6FC18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870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Conversion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870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014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Ajout de 2 produits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(badge Signals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passe a 2).</a:t>
            </a:r>
          </a:p>
        </p:txBody>
      </p:sp>
      <p:sp>
        <p:nvSpPr>
          <p:cNvPr id="23" name="Oval 22"/>
          <p:cNvSpPr/>
          <p:nvPr/>
        </p:nvSpPr>
        <p:spPr>
          <a:xfrm>
            <a:off x="8061807" y="2377440"/>
            <a:ext cx="457200" cy="457200"/>
          </a:xfrm>
          <a:prstGeom prst="ellipse">
            <a:avLst/>
          </a:prstGeom>
          <a:solidFill>
            <a:srgbClr val="9B82B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174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Ajustement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174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318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Panier : Modification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des quantites, recalcul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automatique du total.</a:t>
            </a:r>
          </a:p>
        </p:txBody>
      </p:sp>
      <p:sp>
        <p:nvSpPr>
          <p:cNvPr id="27" name="Oval 26"/>
          <p:cNvSpPr/>
          <p:nvPr/>
        </p:nvSpPr>
        <p:spPr>
          <a:xfrm>
            <a:off x="9524847" y="2377440"/>
            <a:ext cx="457200" cy="457200"/>
          </a:xfrm>
          <a:prstGeom prst="ellipse">
            <a:avLst/>
          </a:prstGeom>
          <a:solidFill>
            <a:srgbClr val="6FC18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478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4478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622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Commande confirmee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-&gt; Routage vers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/orders.</a:t>
            </a:r>
          </a:p>
        </p:txBody>
      </p:sp>
      <p:sp>
        <p:nvSpPr>
          <p:cNvPr id="31" name="Oval 30"/>
          <p:cNvSpPr/>
          <p:nvPr/>
        </p:nvSpPr>
        <p:spPr>
          <a:xfrm>
            <a:off x="10987887" y="2377440"/>
            <a:ext cx="457200" cy="457200"/>
          </a:xfrm>
          <a:prstGeom prst="ellipse">
            <a:avLst/>
          </a:prstGeom>
          <a:solidFill>
            <a:srgbClr val="E6B74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7827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Fidelisation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07827" y="3200400"/>
            <a:ext cx="1417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B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99267" y="3337560"/>
            <a:ext cx="1234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Depot d'un avis 5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etoiles persistant sur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le produit.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6547" y="2606040"/>
            <a:ext cx="116586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3200" y="1828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Intervention</a:t>
            </a:r>
            <a:br/>
            <a:r>
              <a:rPr sz="900" b="0" i="1">
                <a:solidFill>
                  <a:srgbClr val="6B7280"/>
                </a:solidFill>
                <a:latin typeface="Calibri"/>
              </a:rPr>
              <a:t>AuthGuard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Tests unitaires : 9 tests, BUILD SUCCESS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6FC18E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onsolas"/>
              </a:rPr>
              <a:t>ProductServiceTest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1F2937"/>
                </a:solidFill>
                <a:latin typeface="Calibri"/>
              </a:rPr>
              <a:t>findById ok / KO</a:t>
            </a:r>
            <a:br/>
            <a:r>
              <a:rPr sz="950" b="0" i="1">
                <a:solidFill>
                  <a:srgbClr val="1F2937"/>
                </a:solidFill>
                <a:latin typeface="Calibri"/>
              </a:rPr>
              <a:t>search avec / sans mot-cle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D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4DB1C4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onsolas"/>
              </a:rPr>
              <a:t>CartServiceTest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63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1F2937"/>
                </a:solidFill>
                <a:latin typeface="Calibri"/>
              </a:rPr>
              <a:t>addItem stock OK</a:t>
            </a:r>
            <a:br/>
            <a:r>
              <a:rPr sz="950" b="0" i="1">
                <a:solidFill>
                  <a:srgbClr val="1F2937"/>
                </a:solidFill>
                <a:latin typeface="Calibri"/>
              </a:rPr>
              <a:t>addItem stock insuffisant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B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9B82B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onsolas"/>
              </a:rPr>
              <a:t>OrderServiceTest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63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1F2937"/>
                </a:solidFill>
                <a:latin typeface="Calibri"/>
              </a:rPr>
              <a:t>checkout panier vide</a:t>
            </a:r>
            <a:br/>
            <a:r>
              <a:rPr sz="950" b="0" i="1">
                <a:solidFill>
                  <a:srgbClr val="1F2937"/>
                </a:solidFill>
                <a:latin typeface="Calibri"/>
              </a:rPr>
              <a:t>checkout valide</a:t>
            </a:r>
            <a:br/>
            <a:r>
              <a:rPr sz="950" b="0" i="1">
                <a:solidFill>
                  <a:srgbClr val="1F2937"/>
                </a:solidFill>
                <a:latin typeface="Calibri"/>
              </a:rPr>
              <a:t>myOrders trie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FFCC"/>
                </a:solidFill>
                <a:latin typeface="Consolas"/>
              </a:rPr>
              <a:t>$ mvn test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-------------------------------------------------------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 T E S T S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-------------------------------------------------------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Running com.estore.catalog.ProductServiceTest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Tests run: 4, Failures: 0, Errors: 0, Skipped: 0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Running com.estore.shopping.CartServiceTest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Tests run: 2, Failures: 0, Errors: 0, Skipped: 0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Running com.estore.billing.OrderServiceTest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Tests run: 3, Failures: 0, Errors: 0, Skipped: 0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Tests run: 9, Failures: 0, Errors: 0, Skipped: 0</a:t>
            </a:r>
            <a:br/>
            <a:r>
              <a:rPr sz="1000" b="0" i="0">
                <a:solidFill>
                  <a:srgbClr val="CCFFCC"/>
                </a:solidFill>
                <a:latin typeface="Consolas"/>
              </a:rPr>
              <a:t>[INFO] BUILD 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457200"/>
            <a:ext cx="8503920" cy="118872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 w="19050">
            <a:solidFill>
              <a:srgbClr val="D8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11680" y="594360"/>
            <a:ext cx="164592" cy="164592"/>
          </a:xfrm>
          <a:prstGeom prst="ellipse">
            <a:avLst/>
          </a:prstGeom>
          <a:solidFill>
            <a:srgbClr val="FF6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40280" y="594360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8880" y="594360"/>
            <a:ext cx="164592" cy="164592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822960"/>
            <a:ext cx="7955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  <a:latin typeface="Consolas"/>
              </a:rPr>
              <a:t>Obstacle d'Environnement :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C:\ProgramData\DockerDesktop must be owned by an elevated</a:t>
            </a:r>
            <a:br/>
            <a:r>
              <a:rPr sz="1100" b="0" i="0">
                <a:solidFill>
                  <a:srgbClr val="DCDCDC"/>
                </a:solidFill>
                <a:latin typeface="Consolas"/>
              </a:rPr>
              <a:t>account (Cause: Dossier residuel systeme)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F2937"/>
                </a:solidFill>
                <a:latin typeface="Calibri"/>
              </a:rPr>
              <a:t>Intelligence DevOps : Le Bifurcateur de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Solution 1 : Brute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Nettoyage via ligne de commande Administrateur (rmdir /s /q) suivi d'une reinstallation propre de l'environnement.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92608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E8F8EA"/>
          </a:solidFill>
          <a:ln w="2540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FC18E"/>
                </a:solidFill>
                <a:latin typeface="Calibri"/>
              </a:rPr>
              <a:t>Solution 2 : Elegante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65760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Activation du profil 'dev' Spring Boot. Bascule automatique</a:t>
            </a:r>
            <a:br/>
            <a:r>
              <a:rPr sz="1100" b="0" i="0">
                <a:solidFill>
                  <a:srgbClr val="1F2937"/>
                </a:solidFill>
                <a:latin typeface="Calibri"/>
              </a:rPr>
              <a:t>sur la base relationnelle 'H2 in-memory'. L'application demarre</a:t>
            </a:r>
            <a:br/>
            <a:r>
              <a:rPr sz="1100" b="0" i="0">
                <a:solidFill>
                  <a:srgbClr val="1F2937"/>
                </a:solidFill>
                <a:latin typeface="Calibri"/>
              </a:rPr>
              <a:t>et tourne parfaitement sans Docker.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200400" y="2560320"/>
            <a:ext cx="457200" cy="36576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560320"/>
            <a:ext cx="457200" cy="365760"/>
          </a:xfrm>
          <a:prstGeom prst="line">
            <a:avLst/>
          </a:prstGeom>
          <a:ln w="15875">
            <a:solidFill>
              <a:srgbClr val="6FC1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815687" y="5029200"/>
            <a:ext cx="2560320" cy="1463040"/>
          </a:xfrm>
          <a:prstGeom prst="ellipse">
            <a:avLst/>
          </a:prstGeom>
          <a:solidFill>
            <a:srgbClr val="E8F8EA"/>
          </a:solidFill>
          <a:ln w="25400">
            <a:solidFill>
              <a:srgbClr val="6FC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5687" y="5166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FC18E"/>
                </a:solidFill>
                <a:latin typeface="Calibri"/>
              </a:rPr>
              <a:t>Qualite Garantie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687" y="55321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9 tests unitaires valides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(JUnit/Mockito en mode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@MockitoSettings(LENIENT))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0 echec</a:t>
            </a:r>
            <a:br/>
            <a:r>
              <a:rPr sz="900" b="0" i="0">
                <a:solidFill>
                  <a:srgbClr val="1F2937"/>
                </a:solidFill>
                <a:latin typeface="Calibri"/>
              </a:rPr>
              <a:t>(BUILD SUCCESS)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95847" y="4754880"/>
            <a:ext cx="2865273" cy="274320"/>
          </a:xfrm>
          <a:prstGeom prst="line">
            <a:avLst/>
          </a:prstGeom>
          <a:ln w="25400">
            <a:solidFill>
              <a:srgbClr val="6FC1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Bilan : objectifs atteints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51600"/>
            <a:ext cx="80000" cy="1211600"/>
          </a:xfrm>
          <a:prstGeom prst="rect">
            <a:avLst/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5760" y="1491600"/>
            <a:ext cx="5086400" cy="113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✓ Architecture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3 couches × 5 domaines rigoureusement compartimentee.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451600"/>
            <a:ext cx="80000" cy="1211600"/>
          </a:xfrm>
          <a:prstGeom prst="rect">
            <a:avLst/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7920" y="1491600"/>
            <a:ext cx="5086400" cy="113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✓ Securite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JWT + BCrypt + @PreAuthorize - etanche.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260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06080"/>
            <a:ext cx="80000" cy="1211600"/>
          </a:xfrm>
          <a:prstGeom prst="rect">
            <a:avLst/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760" y="3046080"/>
            <a:ext cx="5086400" cy="113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✓ Persistance hybride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SQL (MySQL/H2) + NoSQL (MongoDB) fonctionnelle.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006080"/>
            <a:ext cx="80000" cy="1211600"/>
          </a:xfrm>
          <a:prstGeom prst="rect">
            <a:avLst/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7920" y="3046080"/>
            <a:ext cx="5086400" cy="113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✓ Tests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9 tests unitaires verts, BUILD SUCCESS reproductible.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80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560560"/>
            <a:ext cx="80000" cy="1211600"/>
          </a:xfrm>
          <a:prstGeom prst="rect">
            <a:avLst/>
          </a:prstGeom>
          <a:solidFill>
            <a:srgbClr val="5BA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760" y="4600560"/>
            <a:ext cx="5086400" cy="113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✓ DevOps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Docker Compose + profil dev H2 (resilience).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80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560560"/>
            <a:ext cx="80000" cy="1211600"/>
          </a:xfrm>
          <a:prstGeom prst="rect">
            <a:avLst/>
          </a:prstGeom>
          <a:solidFill>
            <a:srgbClr val="E6B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7920" y="4600560"/>
            <a:ext cx="5086400" cy="113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✓ Documentation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F2937"/>
                </a:solidFill>
                <a:latin typeface="Calibri"/>
              </a:rPr>
              <a:t>README + 7 PDF + Presentation NotebookLM-style.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Feuille de Route :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50292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5BA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Monetisation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5321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Integration passerelles</a:t>
            </a:r>
            <a:br/>
            <a:r>
              <a:rPr sz="1000" b="0" i="1">
                <a:solidFill>
                  <a:srgbClr val="FFFFFF"/>
                </a:solidFill>
                <a:latin typeface="Calibri"/>
              </a:rPr>
              <a:t>Stripe / CMI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749040" y="5074920"/>
            <a:ext cx="91440" cy="640080"/>
          </a:xfrm>
          <a:prstGeom prst="line">
            <a:avLst/>
          </a:prstGeom>
          <a:ln w="25400">
            <a:solidFill>
              <a:srgbClr val="5BA3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40480" y="438912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4480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48920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Notifications emails &amp;</a:t>
            </a:r>
            <a:br/>
            <a:r>
              <a:rPr sz="1000" b="0" i="1">
                <a:solidFill>
                  <a:srgbClr val="FFFFFF"/>
                </a:solidFill>
                <a:latin typeface="Calibri"/>
              </a:rPr>
              <a:t>SMS automatisees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217920" y="4434840"/>
            <a:ext cx="91440" cy="640080"/>
          </a:xfrm>
          <a:prstGeom prst="line">
            <a:avLst/>
          </a:prstGeom>
          <a:ln w="25400">
            <a:solidFill>
              <a:srgbClr val="6FC1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37490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89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5196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Recommandations ML</a:t>
            </a:r>
            <a:br/>
            <a:r>
              <a:rPr sz="1000" b="0" i="1">
                <a:solidFill>
                  <a:srgbClr val="FFFFFF"/>
                </a:solidFill>
                <a:latin typeface="Calibri"/>
              </a:rPr>
              <a:t>basees sur l'historique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686800" y="3794760"/>
            <a:ext cx="91440" cy="640080"/>
          </a:xfrm>
          <a:prstGeom prst="line">
            <a:avLst/>
          </a:prstGeom>
          <a:ln w="25400">
            <a:solidFill>
              <a:srgbClr val="E894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3108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Scalabilite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61188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Deploiement Cloud</a:t>
            </a:r>
            <a:br/>
            <a:r>
              <a:rPr sz="1000" b="0" i="1">
                <a:solidFill>
                  <a:srgbClr val="FFFFFF"/>
                </a:solidFill>
                <a:latin typeface="Calibri"/>
              </a:rPr>
              <a:t>AWS / Azure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Direction d'evolution : du business immediat vers la scalabilite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0638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16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3194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4472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50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7028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8306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0862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140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3418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4696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5974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7252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78530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1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905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191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953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477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2540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1F2937"/>
                </a:solidFill>
                <a:latin typeface="Calibri"/>
              </a:rPr>
              <a:t>Merci pour votre attention.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1F2937"/>
                </a:solidFill>
                <a:latin typeface="Calibri"/>
              </a:rPr>
              <a:t>Nous sommes prets a repondre a vos questions.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9447" y="5212080"/>
            <a:ext cx="3474720" cy="9144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1F2937"/>
                </a:solidFill>
                <a:latin typeface="Consolas"/>
              </a:rPr>
              <a:t>Auteurs :</a:t>
            </a:r>
            <a:br/>
            <a:r>
              <a:rPr sz="1100" b="0">
                <a:solidFill>
                  <a:srgbClr val="1F2937"/>
                </a:solidFill>
                <a:latin typeface="Consolas"/>
              </a:rPr>
              <a:t>Akram Belmoussa</a:t>
            </a:r>
            <a:br/>
            <a:r>
              <a:rPr sz="1100" b="0">
                <a:solidFill>
                  <a:srgbClr val="1F2937"/>
                </a:solidFill>
                <a:latin typeface="Consolas"/>
              </a:rPr>
              <a:t>&amp; Nouhaila Ben Soumane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9447" y="5212080"/>
            <a:ext cx="80000" cy="914400"/>
          </a:xfrm>
          <a:prstGeom prst="roundRect">
            <a:avLst>
              <a:gd name="adj" fmla="val 50000"/>
            </a:avLst>
          </a:prstGeom>
          <a:solidFill>
            <a:srgbClr val="4D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358487" y="5212080"/>
            <a:ext cx="3474720" cy="9144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Module : Full-Stack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Pr. Omar Zahour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8487" y="5212080"/>
            <a:ext cx="80000" cy="914400"/>
          </a:xfrm>
          <a:prstGeom prst="roundRect">
            <a:avLst>
              <a:gd name="adj" fmla="val 50000"/>
            </a:avLst>
          </a:prstGeom>
          <a:solidFill>
            <a:srgbClr val="6FC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107527" y="5212080"/>
            <a:ext cx="3474720" cy="9144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C8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FSBM</a:t>
            </a:r>
            <a:br/>
            <a:r>
              <a:rPr sz="1100" b="0">
                <a:solidFill>
                  <a:srgbClr val="1F2937"/>
                </a:solidFill>
                <a:latin typeface="Calibri"/>
              </a:rPr>
              <a:t>Universite Hassan II</a:t>
            </a:r>
            <a:br/>
            <a:r>
              <a:rPr sz="1100" b="0">
                <a:solidFill>
                  <a:srgbClr val="1F2937"/>
                </a:solidFill>
                <a:latin typeface="Calibri"/>
              </a:rPr>
              <a:t>2025-2026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07527" y="5212080"/>
            <a:ext cx="80000" cy="914400"/>
          </a:xfrm>
          <a:prstGeom prst="roundRect">
            <a:avLst>
              <a:gd name="adj" fmla="val 50000"/>
            </a:avLst>
          </a:prstGeom>
          <a:solidFill>
            <a:srgbClr val="9B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E-STORE  ·  A. Belmoussa &amp; N. Ben Soumane  ·  Pr. O. Zahour  ·  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
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0D6EFD"/>
                </a:solidFill>
              </a:rPr>
              <a:t>E-Store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12529"/>
                </a:solidFill>
              </a:rPr>
              <a:t>Application e-commerce full-stack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474720"/>
            <a:ext cx="1828800" cy="45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C757D"/>
                </a:solidFill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Full-Stack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C757D"/>
                </a:solidFill>
              </a:rPr>
              <a:t>Encadrant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343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Pr. Omar Zahour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C757D"/>
                </a:solidFill>
              </a:rPr>
              <a:t>Etablissement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FSBM - Universite Hassan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C757D"/>
                </a:solidFill>
              </a:rPr>
              <a:t>Annee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166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2025-2026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C757D"/>
                </a:solidFill>
              </a:rPr>
              <a:t>Auteurs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Akram Belmoussa &amp; Nouhaila Ben Soumane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Plan de la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1.  Contexte et objectifs du projet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2.  Architecture (3 couches x 5 domaines)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3.  Stack technique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4.  Backend Spring Boot - exemples de code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5.  Securite (Spring Security + JWT)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6.  MongoDB pour les avis (persistance hybride)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7.  Frontend Angular 17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8.  Demonstration en direct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9.  Tests, DevOps et difficulte Docker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10. Conclusion et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1. Contexte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212529"/>
                </a:solidFill>
              </a:rPr>
              <a:t>Mini-projet pedagogique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Application complete : inscription, catalogue, panier, commandes, avis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Objectif 1 : maitriser une architecture full-stack moderne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Objectif 2 : illustrer la persistance hybride SQL + NoSQL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Objectif 3 : appliquer les bonnes pratiques (DTOs, transactions, tests)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Objectif 4 : securiser via JWT + Spring Security 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Objectif 5 : produire une UI moderne avec Angular 17 standalone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2. Architecture en 3 couches x 5 domaines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9436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PRESENTATION (Angular)</a:t>
            </a:r>
          </a:p>
          <a:p>
            <a:r>
              <a:rPr sz="1100" i="1">
                <a:solidFill>
                  <a:srgbClr val="F5F7FA"/>
                </a:solidFill>
              </a:rPr>
              <a:t>Composants, services HTTP, formulaires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59436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LOGIQUE METIER (Spring Boot)</a:t>
            </a:r>
          </a:p>
          <a:p>
            <a:r>
              <a:rPr sz="1100" i="1">
                <a:solidFill>
                  <a:srgbClr val="F5F7FA"/>
                </a:solidFill>
              </a:rPr>
              <a:t>Controllers REST, Services, DTOs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943600" cy="9144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ACCES AUX DONNEES</a:t>
            </a:r>
          </a:p>
          <a:p>
            <a:r>
              <a:rPr sz="1100" i="1">
                <a:solidFill>
                  <a:srgbClr val="F5F7FA"/>
                </a:solidFill>
              </a:rPr>
              <a:t>JpaRepository + MongoRepository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12529"/>
                </a:solidFill>
              </a:rPr>
              <a:t>5 DOMAINES FONCTIONNELS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20240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customer  -  User, Profile,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487168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catalog  -  Categorie, Produit, recherche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3054096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inventory  -  Stock par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621024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shopping  -  Cart, CartItem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4187952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billing  -  Order, OrderItem - transactionnel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754880"/>
            <a:ext cx="457200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200">
                <a:solidFill>
                  <a:srgbClr val="212529"/>
                </a:solidFill>
              </a:rPr>
              <a:t>review  -  Avis (MongoDB)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3. Stack technique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Couche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Technologies</a:t>
                      </a:r>
                    </a:p>
                  </a:txBody>
                  <a:tcPr>
                    <a:solidFill>
                      <a:srgbClr val="0D6E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Angular 17 standalone, Bootstrap 5, RxJS, TypeScript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Spring Boot 3.3, Spring Security 6, JWT (jjwt 0.12)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ORM / Donnees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Spring Data JPA + Hibernate, Spring Data MongoDB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Bases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MySQL 8 (prod) / H2 (dev) + MongoDB 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Maven 3.9, npm, Angular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Tests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JUnit 5 + Mockito (9 tests, BUILD SUCCESS)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529"/>
                          </a:solidFill>
                        </a:rPr>
                        <a:t>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529"/>
                          </a:solidFill>
                        </a:rPr>
                        <a:t>Docker Compose : MySQL + Mongo + phpMyAdmin + mongo-express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4. Backend - exemple : checkout transactionnel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212529"/>
                </a:solidFill>
              </a:rPr>
              <a:t>OrderService.checkout() - atomicite ACID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77295" cy="4663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CDCDC"/>
                </a:solidFill>
                <a:latin typeface="Consolas"/>
              </a:rPr>
              <a:t>@Transactional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public OrderDto checkout() {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Cart cart = cartService.getOrCreateCart(user);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if (cart.getItems().isEmpty())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    throw new BusinessException("Votre panier est vide");</a:t>
            </a:r>
          </a:p>
          <a:p/>
          <a:p>
            <a:r>
              <a:rPr sz="1100">
                <a:solidFill>
                  <a:srgbClr val="DCDCDC"/>
                </a:solidFill>
                <a:latin typeface="Consolas"/>
              </a:rPr>
              <a:t>    // 1) Verifier le stock pour TOUS les items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for (CartItem ci : cart.getItems())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    inventoryService.checkAvailability(ci.getProduct().getId(), ci.getQuantity());</a:t>
            </a:r>
          </a:p>
          <a:p/>
          <a:p>
            <a:r>
              <a:rPr sz="1100">
                <a:solidFill>
                  <a:srgbClr val="DCDCDC"/>
                </a:solidFill>
                <a:latin typeface="Consolas"/>
              </a:rPr>
              <a:t>    // 2) Creer la commande + decrementer stock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Order order = Order.builder().user(user).status(PENDING).build();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for (CartItem ci : cart.getItems()) {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    order.getItems().add(OrderItem.builder()...build());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    inventoryService.decrement(ci.getProduct().getId(), ci.getQuantity());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}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order.setStatus(CONFIRMED);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Order saved = orderRepository.save(order);</a:t>
            </a:r>
          </a:p>
          <a:p/>
          <a:p>
            <a:r>
              <a:rPr sz="1100">
                <a:solidFill>
                  <a:srgbClr val="DCDCDC"/>
                </a:solidFill>
                <a:latin typeface="Consolas"/>
              </a:rPr>
              <a:t>    // 3) Vider le panier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cartService.clearCart(cart);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    return OrderDto.from(saved);</a:t>
            </a:r>
          </a:p>
          <a:p>
            <a:r>
              <a:rPr sz="11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5. Securite - JWT + Spring Security 6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Client envoie email +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2763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POST /api/auth/login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AuthService valide via BCrypt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7627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passwordEncoder.matches(...)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JwtService genere token signe HS256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2491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Jwts.builder().signWith(key)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Client stocke le token (localStorage)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7355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estore.token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94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Toute requete suivante : Bearer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2219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AuthInterceptor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43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JwtFilter valide a chaque appel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7083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D6EFD"/>
                </a:solidFill>
              </a:rPr>
              <a:t>doFilterInternal()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10911535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101600"/>
          <a:lstStyle/>
          <a:p>
            <a:pPr algn="ctr"/>
            <a:r>
              <a:rPr b="1" sz="1400">
                <a:solidFill>
                  <a:srgbClr val="0D6EFD"/>
                </a:solidFill>
              </a:rPr>
              <a:t>Points cles</a:t>
            </a:r>
          </a:p>
          <a:p>
            <a:r>
              <a:rPr sz="1100">
                <a:solidFill>
                  <a:srgbClr val="212529"/>
                </a:solidFill>
              </a:rPr>
              <a:t>- Mots de passe hashes BCrypt</a:t>
            </a:r>
          </a:p>
          <a:p>
            <a:r>
              <a:rPr sz="1100">
                <a:solidFill>
                  <a:srgbClr val="212529"/>
                </a:solidFill>
              </a:rPr>
              <a:t>- Token JWT HS256, expiration 24h</a:t>
            </a:r>
          </a:p>
          <a:p>
            <a:r>
              <a:rPr sz="1100">
                <a:solidFill>
                  <a:srgbClr val="212529"/>
                </a:solidFill>
              </a:rPr>
              <a:t>- Endpoints publics : /api/auth/**, GET /api/products /categories /reviews</a:t>
            </a:r>
          </a:p>
          <a:p>
            <a:r>
              <a:rPr sz="1100">
                <a:solidFill>
                  <a:srgbClr val="212529"/>
                </a:solidFill>
              </a:rPr>
              <a:t>- @PreAuthorize("hasRole('ADMIN')") sur les endpoints d'administration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6. MongoDB pour les avis (persistance hybride)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212529"/>
                </a:solidFill>
              </a:rPr>
              <a:t>Pourquoi un second SGBD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Avis = donnees semi-structurees, volumineuses, en lecture frequente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Pas de relations strictes - schema flexible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Spring Data MongoDB : meme abstraction que JPA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Repository : findByProductIdOrderByCreatedAtDesc(productId)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Document type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    { productId, userId, authorName, rating(1-5), comment, createdAt 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Comportement defensif : si Mongo absent, l'app continue (warning)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7. Frontend Angular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212529"/>
                </a:solidFill>
              </a:rPr>
              <a:t>Composants standalone +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Standalone components (pas de NgModule) - moderne et concis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Lazy loading par route : bundle initial 13 ko + features a la demande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Signals pour l'etat reactif : cart.itemCount() dans le header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AuthService : BehaviorSubject&lt;User&gt; + localStorage persistance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AuthInterceptor : ajoute Bearer &lt;token&gt; a chaque requete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ErrorInterceptor : gestion centralisee 401/4xx/0 (toast)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AuthGuard sur /cart, /orders, /profile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Bootstrap 5 + thematique cohesive,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8. Demonstration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6EFD"/>
                </a:solidFill>
              </a:rPr>
              <a:t>Scenario de demonstration en 8 etapes (passage au navigateur)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1. Catalogue : 12 produits, recherche, filtre par categorie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2. Fiche produit : prix, stock, 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3. Tentative panier sans connexion -&gt; redirection 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4. Connexion user@estore.ma / User@123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5. Ajout de 2 produits au panier (badge passe a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6. Panier : modification quantite, total recalcule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7. Validation commande -&gt; /orders, commande #1 confirmee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12529"/>
                </a:solidFill>
              </a:rPr>
              <a:t>8. Depot d'un avis 5 etoiles sur un produit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9. Tests, DevOps et la difficulte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6EFD"/>
                </a:solidFill>
              </a:rPr>
              <a:t>Tests unitaires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ProductServiceTest (4 tests)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CartServiceTest (2 tests)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OrderServiceTest (3 tests)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TOTAL : 9 tests, 0 failure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Mockito @MockitoSettings(LENIENT)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4407" y="155448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98754"/>
                </a:solidFill>
              </a:rPr>
              <a:t>Difficulte Docker rencontree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4407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Erreur : 'C:\\ProgramData\\DockerDesktop must be owned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    by an elevated account'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Cause : dossier residuel d'une install precedente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Solution 1 : rmdir /s /q en admin + reinstall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Solution 2 : profil dev (H2 in-memory) - pas d'install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12529"/>
                </a:solidFill>
              </a:rPr>
              <a:t>- =&gt; Architecture pensee pour 2 modes des le depart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10. Conclusion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212529"/>
                </a:solidFill>
              </a:rP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[+] Architecture 3 couches x 5 domaines respectee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[+] Securite robuste (JWT + BCrypt + @PreAuthorize)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[+] Persistance hybride SQL + NoSQL operationnelle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[+] 9 tests unitaires verts, build reproductible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Perspectives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  - Paiement en ligne (Stripe / CMI)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  - Notifications (emails de confirmation, SMS)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  - Recommandations produits (ML)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  - Deploiement cloud (Heroku, AWS, Azure)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12529"/>
                </a:solidFill>
              </a:rPr>
              <a:t>  Merci pour votre attention -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6430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900">
                <a:solidFill>
                  <a:srgbClr val="6C757D"/>
                </a:solidFill>
              </a:rPr>
              <a:t>E-Store  |  A. Belmoussa &amp; N. Ben Soumane  |  Pr. O. Zahour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
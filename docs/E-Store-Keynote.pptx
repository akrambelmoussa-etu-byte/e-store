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Pause cinématique : laisser quelques secondes de silence avant de parler. L'attention se concentre sur le point lumineux. Quand le silence devient dense, appuyer sur la touche pour déclencher la transition Morph.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Le point grossit (Morph) — moment d'impact. Annoncer : 'Bonjour à tous.' puis attendre que la transition suivante révèle le titre.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REVELATION DU NOM. Annoncer : 'Nous vous présentons E-STORE.' Marquer une pause après le nom pour laisser l'impact se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Annoncer la promesse. 'E-Store, c'est une plateforme e-commerce full-stack conçue pour la performance, sécurisée par construction.' Insister sur les trois mots-clés : moderne, hybride, sécurisée.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Présenter brièvement : 'Je suis Akram, voici ma binôme Nouhaila. Ce projet a été réalisé sous la direction du Pr. Omar Zahour, à la Faculté des Sciences Ben M'Sick.' Tendre la main vers Nouhaila à ce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Question rhétorique. Marquer une pause après chaque ligne. C'est le moment où le jury comprend l'ampleur de ce qu'on a construit.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Énumérer rapidement les 6 défis. Insister : 'Chacun de ces points est déjà un projet en soi. Notre engagement : tout livrer dans une architecture cohérente.'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Énoncer les chiffres : '30+ fichiers, 18 endpoints REST, 9 tests, 0 échec.' Ces métriques sont la signature de la rigueur appliquée.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Trois engagements simples. Les énoncer un à un avec conviction. Faire une pause après chaque phrase pour que le jury intègre.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Annoncer le chapitre architecture. Le cube va prendre vie progressivement à chaque slide suivante via Morph.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Apparition (Morph) de la couche 1 : Présentation. 'Tout commence dans le navigateur, avec Angular 17 et ses signals.'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Apparition (Morph) de la couche 2 : Logique métier. 'Spring Boot encaisse les requêtes, valide, oriente vers les services.'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Apparition (Morph) de la couche 3 : Accès aux données. 'Et au plus profond, deux bases de données complémentaires : MySQL et MongoDB.'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Six domaines apparaissent ensemble (Morph). Souligner : 'Chaque domaine a son entité, son DTO, son service, son controller.' C'est l'application directe du Domain-Driven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Zoom sur un domaine. La pyramide se construit (Morph). 'Voici le schéma typique : controller, service, repository, entity. Cette structure se retrouve dans tous les domaines.'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Le système solaire de E-Store. Au centre l'application, autour ses satellites technologiques. Ils tous rayonnent vers le noyau.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Quatre piliers frontend. Insister sur les signals : 'C'est la nouveauté Angular 17 que nous avons exploitée pour la réactivité du panier.' Et sur les 13 ko de bundle initial : exceptionnel.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Le quatuor Spring : Boot, Security, Data JPA, Data MongoDB. 'Spring permet de faire en une annotation ce qui prendrait 100 lignes ailleurs.' Démarrage à froid en moins de 8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Persistance hybride : 'Pas de religion technique. MySQL pour les transactions, MongoDB pour les avis. Le bon outil pour la bonne donnée.'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Deux environnements pensés dès le départ. La même application, deux modes. C'est ce qui nous a sauvés quand Docker a refusé de s'installer.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Première étape. 'L'utilisateur tape son email et mot de passe. POST vers /api/auth/login.'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Étapes 2 et 3 (Morph). 'Le serveur vérifie BCrypt — impossible de retrouver le mot de passe — puis génère un JWT signé HS256 valable 24 heures.'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Étapes 4 et 5 (Morph). 'Le token est stocké côté navigateur. L'AuthInterceptor l'attache à chaque requête sortante.'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La boucle est complète. 'À chaque requête, le filtre JWT vérifie. Si le rôle ne correspond pas à @PreAuthorize, c'est 403 Forbidden.'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Quatre verrous indépendants. Pour qu'un attaquant passe, il devrait casser les quatre. C'est la défense en profondeur.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Annonce dramatique. 'Quand un client clique sur Valider la commande, trois choses doivent se passer ensemble. Ou aucune.'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Le code clé de tout le projet. 'Une seule annotation @Transactional. Trois étapes. Atomicité garantie par Spring.'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Quatre lettres, quatre garanties. C'est la base de toutes les bases de données transactionnelles depuis 40 ans. E-Store en bénéficie gratuitement.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Annonce de la démo. 'Maintenant la pratique. 8 étapes pour couvrir tout le système.'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Premières étapes du parcours (Morph). 'Catalogue, fiche produit, AuthGuard qui bloque, login.' Bascule sur le navigateur pour faire la démo en parallèle.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Parcours complet (Morph). 'Login, panier, modification, validation, avis. Le tout en moins de 60 secondes côté utilisateur.'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Le tableau de bord. Les KPI s'animent avec leurs barres de progression. '9 tests, 100% verts. Bundle de 13 ko. Démarrage en moins de 8 secondes.'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Graphique de performance. 'Toutes les opérations restent sous 500 ms. Le checkout est le plus lourd à 410 ms — normal, c'est une transaction multi-table.'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L'incident. 'À la veille de la soutenance, Docker Desktop refuse de s'installer. Permission Windows. Pas de temps pour résoudre proprement.'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Morph spectaculaire : la console rouge devient verte. 'Le profil DEV existait depuis le début. H2 in-memory, zéro dépendance externe. Plan B intégré. C'est ça, l'architecture résiliente.'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Roadmap en 4 trimestres. 'On a un MVP solide. La suite : paiement, notifications, recommandations ML, déploiement cloud.' Vision long terme.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Vision claire. 'E-Store est une fondation, pas une fin.' Trois mots-clés pour résumer : performant, scalable, ouvert.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Slide finale. Sourire, regarder le jury, tendre la main pour inviter aux questions. 'Merci pour votre attention. Nous sommes prêts à répondre à vos questions.'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_dot"/>
          <p:cNvSpPr/>
          <p:nvPr/>
        </p:nvSpPr>
        <p:spPr>
          <a:xfrm>
            <a:off x="6050127" y="3383280"/>
            <a:ext cx="91440" cy="91440"/>
          </a:xfrm>
          <a:prstGeom prst="ellipse">
            <a:avLst/>
          </a:prstGeom>
          <a:solidFill>
            <a:srgbClr val="00E5FF"/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_dot"/>
          <p:cNvSpPr/>
          <p:nvPr/>
        </p:nvSpPr>
        <p:spPr>
          <a:xfrm>
            <a:off x="4998567" y="2331720"/>
            <a:ext cx="2194560" cy="2194560"/>
          </a:xfrm>
          <a:prstGeom prst="ellipse">
            <a:avLst/>
          </a:prstGeom>
          <a:solidFill>
            <a:srgbClr val="00E5FF"/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alo"/>
          <p:cNvSpPr/>
          <p:nvPr/>
        </p:nvSpPr>
        <p:spPr>
          <a:xfrm>
            <a:off x="3901287" y="1234440"/>
            <a:ext cx="4389120" cy="4389120"/>
          </a:xfrm>
          <a:prstGeom prst="ellipse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_dot"/>
          <p:cNvSpPr/>
          <p:nvPr/>
        </p:nvSpPr>
        <p:spPr>
          <a:xfrm>
            <a:off x="6309360" y="2834640"/>
            <a:ext cx="1097280" cy="1097280"/>
          </a:xfrm>
          <a:prstGeom prst="ellipse">
            <a:avLst/>
          </a:prstGeom>
          <a:solidFill>
            <a:srgbClr val="00E5FF"/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ro_title"/>
          <p:cNvSpPr txBox="1"/>
          <p:nvPr/>
        </p:nvSpPr>
        <p:spPr>
          <a:xfrm>
            <a:off x="457200" y="256032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0" b="1" i="0" spc="-100">
                <a:solidFill>
                  <a:srgbClr val="F5F7FF"/>
                </a:solidFill>
                <a:latin typeface="Calibri"/>
              </a:rPr>
              <a:t>E—STORE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_dot"/>
          <p:cNvSpPr/>
          <p:nvPr/>
        </p:nvSpPr>
        <p:spPr>
          <a:xfrm>
            <a:off x="6492240" y="1051560"/>
            <a:ext cx="731520" cy="731520"/>
          </a:xfrm>
          <a:prstGeom prst="ellipse">
            <a:avLst/>
          </a:prstGeom>
          <a:solidFill>
            <a:srgbClr val="00E5FF"/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ro_title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 spc="-50">
                <a:solidFill>
                  <a:srgbClr val="F5F7FF"/>
                </a:solidFill>
                <a:latin typeface="Calibri"/>
              </a:rPr>
              <a:t>E—STORE</a:t>
            </a:r>
          </a:p>
        </p:txBody>
      </p:sp>
      <p:sp>
        <p:nvSpPr>
          <p:cNvPr id="4" name="tagline_1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 i="0">
                <a:solidFill>
                  <a:srgbClr val="C8CDE5"/>
                </a:solidFill>
                <a:latin typeface="Calibri"/>
              </a:rPr>
              <a:t>Une plateforme e-commerce full-stack</a:t>
            </a:r>
          </a:p>
        </p:txBody>
      </p:sp>
      <p:sp>
        <p:nvSpPr>
          <p:cNvPr id="5" name="tagline_2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 i="1">
                <a:solidFill>
                  <a:srgbClr val="00E5FF"/>
                </a:solidFill>
                <a:latin typeface="Calibri"/>
              </a:rPr>
              <a:t>conçue pour la performance, sécurisée par construction.</a:t>
            </a:r>
          </a:p>
        </p:txBody>
      </p:sp>
      <p:sp>
        <p:nvSpPr>
          <p:cNvPr id="6" name="kw_0"/>
          <p:cNvSpPr/>
          <p:nvPr/>
        </p:nvSpPr>
        <p:spPr>
          <a:xfrm>
            <a:off x="2392527" y="47548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00E5FF"/>
                </a:solidFill>
                <a:latin typeface="Consolas"/>
              </a:rPr>
              <a:t>MODERNE</a:t>
            </a:r>
          </a:p>
        </p:txBody>
      </p:sp>
      <p:sp>
        <p:nvSpPr>
          <p:cNvPr id="7" name="kw_1"/>
          <p:cNvSpPr/>
          <p:nvPr/>
        </p:nvSpPr>
        <p:spPr>
          <a:xfrm>
            <a:off x="4952847" y="47548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B5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B57AFF"/>
                </a:solidFill>
                <a:latin typeface="Consolas"/>
              </a:rPr>
              <a:t>HYBRIDE</a:t>
            </a:r>
          </a:p>
        </p:txBody>
      </p:sp>
      <p:sp>
        <p:nvSpPr>
          <p:cNvPr id="8" name="kw_2"/>
          <p:cNvSpPr/>
          <p:nvPr/>
        </p:nvSpPr>
        <p:spPr>
          <a:xfrm>
            <a:off x="7513167" y="47548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FF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FF4F8B"/>
                </a:solidFill>
                <a:latin typeface="Consolas"/>
              </a:rPr>
              <a:t>SECURISE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_dot"/>
          <p:cNvSpPr/>
          <p:nvPr/>
        </p:nvSpPr>
        <p:spPr>
          <a:xfrm>
            <a:off x="6629400" y="640080"/>
            <a:ext cx="457200" cy="457200"/>
          </a:xfrm>
          <a:prstGeom prst="ellipse">
            <a:avLst/>
          </a:prstGeom>
          <a:solidFill>
            <a:srgbClr val="00E5FF"/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ro_title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E—STORE</a:t>
            </a:r>
          </a:p>
        </p:txBody>
      </p:sp>
      <p:sp>
        <p:nvSpPr>
          <p:cNvPr id="4" name="name_card_1"/>
          <p:cNvSpPr/>
          <p:nvPr/>
        </p:nvSpPr>
        <p:spPr>
          <a:xfrm>
            <a:off x="883767" y="219456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0927" y="2194560"/>
            <a:ext cx="30175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3767" y="2560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400">
                <a:solidFill>
                  <a:srgbClr val="00E5FF"/>
                </a:solidFill>
                <a:latin typeface="Consolas"/>
              </a:rPr>
              <a:t>AUTEURS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301752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Akram Belmoussa</a:t>
            </a:r>
            <a:br/>
            <a:r>
              <a:rPr sz="1800" b="1" i="0">
                <a:solidFill>
                  <a:srgbClr val="F5F7FF"/>
                </a:solidFill>
                <a:latin typeface="Calibri"/>
              </a:rPr>
              <a:t>Nouhaila Ben Soumane</a:t>
            </a:r>
          </a:p>
        </p:txBody>
      </p:sp>
      <p:sp>
        <p:nvSpPr>
          <p:cNvPr id="8" name="name_card_2"/>
          <p:cNvSpPr/>
          <p:nvPr/>
        </p:nvSpPr>
        <p:spPr>
          <a:xfrm>
            <a:off x="4449927" y="219456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87087" y="2194560"/>
            <a:ext cx="301752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9927" y="2560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400">
                <a:solidFill>
                  <a:srgbClr val="B57AFF"/>
                </a:solidFill>
                <a:latin typeface="Consolas"/>
              </a:rPr>
              <a:t>ENCADRANT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247" y="301752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Pr. Omar Zahour</a:t>
            </a:r>
          </a:p>
        </p:txBody>
      </p:sp>
      <p:sp>
        <p:nvSpPr>
          <p:cNvPr id="12" name="name_card_3"/>
          <p:cNvSpPr/>
          <p:nvPr/>
        </p:nvSpPr>
        <p:spPr>
          <a:xfrm>
            <a:off x="8016087" y="219456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3247" y="2194560"/>
            <a:ext cx="3017520" cy="36576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6087" y="2560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400">
                <a:solidFill>
                  <a:srgbClr val="FF4F8B"/>
                </a:solidFill>
                <a:latin typeface="Consolas"/>
              </a:rPr>
              <a:t>ÉTABLISSEMENT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407" y="301752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FSBM</a:t>
            </a:r>
            <a:br/>
            <a:r>
              <a:rPr sz="1800" b="1" i="0">
                <a:solidFill>
                  <a:srgbClr val="F5F7FF"/>
                </a:solidFill>
                <a:latin typeface="Calibri"/>
              </a:rPr>
              <a:t>Université Hassan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600">
                <a:solidFill>
                  <a:srgbClr val="8B92AB"/>
                </a:solidFill>
                <a:latin typeface="Consolas"/>
              </a:rPr>
              <a:t>MODULE FULL-STACK · ANNÉE 2025-2026 · MAROC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05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01</a:t>
            </a:r>
          </a:p>
        </p:txBody>
      </p:sp>
      <p:sp>
        <p:nvSpPr>
          <p:cNvPr id="4" name="big_q1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0" i="0">
                <a:solidFill>
                  <a:srgbClr val="C8CDE5"/>
                </a:solidFill>
                <a:latin typeface="Calibri"/>
              </a:rPr>
              <a:t>Et si construire</a:t>
            </a:r>
          </a:p>
        </p:txBody>
      </p:sp>
      <p:sp>
        <p:nvSpPr>
          <p:cNvPr id="5" name="big_q2"/>
          <p:cNvSpPr txBox="1"/>
          <p:nvPr/>
        </p:nvSpPr>
        <p:spPr>
          <a:xfrm>
            <a:off x="457200" y="347472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F5F7FF"/>
                </a:solidFill>
                <a:latin typeface="Calibri"/>
              </a:rPr>
              <a:t>une vraie plateforme e-commerce</a:t>
            </a:r>
          </a:p>
        </p:txBody>
      </p:sp>
      <p:sp>
        <p:nvSpPr>
          <p:cNvPr id="6" name="big_q3"/>
          <p:cNvSpPr txBox="1"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0" i="1">
                <a:solidFill>
                  <a:srgbClr val="00E5FF"/>
                </a:solidFill>
                <a:latin typeface="Calibri"/>
              </a:rPr>
              <a:t>tenait dans un seul projet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06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DEFI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5F7FF"/>
                </a:solidFill>
                <a:latin typeface="Calibri"/>
              </a:rPr>
              <a:t>Un défi à 6 dimensions</a:t>
            </a:r>
          </a:p>
        </p:txBody>
      </p:sp>
      <p:sp>
        <p:nvSpPr>
          <p:cNvPr id="5" name="chal_0"/>
          <p:cNvSpPr/>
          <p:nvPr/>
        </p:nvSpPr>
        <p:spPr>
          <a:xfrm>
            <a:off x="266547" y="27432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3707" y="2743200"/>
            <a:ext cx="15544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6547" y="3200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00E5FF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987" y="393192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5F7FF"/>
                </a:solidFill>
                <a:latin typeface="Calibri"/>
              </a:rPr>
              <a:t>Authentification</a:t>
            </a:r>
            <a:br/>
            <a:r>
              <a:rPr sz="1200" b="0" i="0">
                <a:solidFill>
                  <a:srgbClr val="F5F7FF"/>
                </a:solidFill>
                <a:latin typeface="Calibri"/>
              </a:rPr>
              <a:t>robuste</a:t>
            </a:r>
          </a:p>
        </p:txBody>
      </p:sp>
      <p:sp>
        <p:nvSpPr>
          <p:cNvPr id="9" name="chal_1"/>
          <p:cNvSpPr/>
          <p:nvPr/>
        </p:nvSpPr>
        <p:spPr>
          <a:xfrm>
            <a:off x="2232507" y="27432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69667" y="2743200"/>
            <a:ext cx="155448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2507" y="3200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B57AFF"/>
                </a:solidFill>
                <a:latin typeface="Calibr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3947" y="393192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5F7FF"/>
                </a:solidFill>
                <a:latin typeface="Calibri"/>
              </a:rPr>
              <a:t>Catalogue</a:t>
            </a:r>
            <a:br/>
            <a:r>
              <a:rPr sz="1200" b="0" i="0">
                <a:solidFill>
                  <a:srgbClr val="F5F7FF"/>
                </a:solidFill>
                <a:latin typeface="Calibri"/>
              </a:rPr>
              <a:t>performant</a:t>
            </a:r>
          </a:p>
        </p:txBody>
      </p:sp>
      <p:sp>
        <p:nvSpPr>
          <p:cNvPr id="13" name="chal_2"/>
          <p:cNvSpPr/>
          <p:nvPr/>
        </p:nvSpPr>
        <p:spPr>
          <a:xfrm>
            <a:off x="4198467" y="27432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5627" y="2743200"/>
            <a:ext cx="1554480" cy="36576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8467" y="3200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4F8B"/>
                </a:solidFill>
                <a:latin typeface="Calibri"/>
              </a:rPr>
              <a:t>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9907" y="393192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5F7FF"/>
                </a:solidFill>
                <a:latin typeface="Calibri"/>
              </a:rPr>
              <a:t>Stock &amp; panier</a:t>
            </a:r>
            <a:br/>
            <a:r>
              <a:rPr sz="1200" b="0" i="0">
                <a:solidFill>
                  <a:srgbClr val="F5F7FF"/>
                </a:solidFill>
                <a:latin typeface="Calibri"/>
              </a:rPr>
              <a:t>thread-safe</a:t>
            </a:r>
          </a:p>
        </p:txBody>
      </p:sp>
      <p:sp>
        <p:nvSpPr>
          <p:cNvPr id="17" name="chal_3"/>
          <p:cNvSpPr/>
          <p:nvPr/>
        </p:nvSpPr>
        <p:spPr>
          <a:xfrm>
            <a:off x="6164427" y="27432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1587" y="2743200"/>
            <a:ext cx="1554480" cy="36576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4427" y="3200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00FFB2"/>
                </a:solidFill>
                <a:latin typeface="Calibri"/>
              </a:rPr>
              <a:t>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867" y="393192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5F7FF"/>
                </a:solidFill>
                <a:latin typeface="Calibri"/>
              </a:rPr>
              <a:t>Commandes</a:t>
            </a:r>
            <a:br/>
            <a:r>
              <a:rPr sz="1200" b="0" i="0">
                <a:solidFill>
                  <a:srgbClr val="F5F7FF"/>
                </a:solidFill>
                <a:latin typeface="Calibri"/>
              </a:rPr>
              <a:t>transactionnelles</a:t>
            </a:r>
          </a:p>
        </p:txBody>
      </p:sp>
      <p:sp>
        <p:nvSpPr>
          <p:cNvPr id="21" name="chal_4"/>
          <p:cNvSpPr/>
          <p:nvPr/>
        </p:nvSpPr>
        <p:spPr>
          <a:xfrm>
            <a:off x="8130387" y="27432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67547" y="2743200"/>
            <a:ext cx="155448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0387" y="3200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C107"/>
                </a:solidFill>
                <a:latin typeface="Calibri"/>
              </a:rPr>
              <a:t>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1827" y="393192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5F7FF"/>
                </a:solidFill>
                <a:latin typeface="Calibri"/>
              </a:rPr>
              <a:t>Persistance</a:t>
            </a:r>
            <a:br/>
            <a:r>
              <a:rPr sz="1200" b="0" i="0">
                <a:solidFill>
                  <a:srgbClr val="F5F7FF"/>
                </a:solidFill>
                <a:latin typeface="Calibri"/>
              </a:rPr>
              <a:t>hybride</a:t>
            </a:r>
          </a:p>
        </p:txBody>
      </p:sp>
      <p:sp>
        <p:nvSpPr>
          <p:cNvPr id="25" name="chal_5"/>
          <p:cNvSpPr/>
          <p:nvPr/>
        </p:nvSpPr>
        <p:spPr>
          <a:xfrm>
            <a:off x="10096347" y="274320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33507" y="2743200"/>
            <a:ext cx="1554480" cy="36576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6347" y="3200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6F61"/>
                </a:solidFill>
                <a:latin typeface="Calibri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7787" y="393192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5F7FF"/>
                </a:solidFill>
                <a:latin typeface="Calibri"/>
              </a:rPr>
              <a:t>Déploiement</a:t>
            </a:r>
            <a:br/>
            <a:r>
              <a:rPr sz="1200" b="0" i="0">
                <a:solidFill>
                  <a:srgbClr val="F5F7FF"/>
                </a:solidFill>
                <a:latin typeface="Calibri"/>
              </a:rPr>
              <a:t>multi-environnement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07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PAR LES CHIFFRES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01</a:t>
            </a:r>
          </a:p>
        </p:txBody>
      </p:sp>
      <p:sp>
        <p:nvSpPr>
          <p:cNvPr id="4" name="metric_38"/>
          <p:cNvSpPr/>
          <p:nvPr/>
        </p:nvSpPr>
        <p:spPr>
          <a:xfrm>
            <a:off x="152247" y="228600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9407" y="2286000"/>
            <a:ext cx="19202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247" y="27432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 spc="-50">
                <a:solidFill>
                  <a:srgbClr val="00E5FF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687" y="40690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200">
                <a:solidFill>
                  <a:srgbClr val="C8CDE5"/>
                </a:solidFill>
                <a:latin typeface="Consolas"/>
              </a:rPr>
              <a:t>slides keynote</a:t>
            </a:r>
          </a:p>
        </p:txBody>
      </p:sp>
      <p:sp>
        <p:nvSpPr>
          <p:cNvPr id="8" name="metric_30"/>
          <p:cNvSpPr/>
          <p:nvPr/>
        </p:nvSpPr>
        <p:spPr>
          <a:xfrm>
            <a:off x="2575407" y="228600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12567" y="2286000"/>
            <a:ext cx="192024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5407" y="27432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 spc="-50">
                <a:solidFill>
                  <a:srgbClr val="B57AFF"/>
                </a:solidFill>
                <a:latin typeface="Calibri"/>
              </a:rPr>
              <a:t>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6847" y="40690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200">
                <a:solidFill>
                  <a:srgbClr val="C8CDE5"/>
                </a:solidFill>
                <a:latin typeface="Consolas"/>
              </a:rPr>
              <a:t>fichiers source</a:t>
            </a:r>
          </a:p>
        </p:txBody>
      </p:sp>
      <p:sp>
        <p:nvSpPr>
          <p:cNvPr id="12" name="metric_18"/>
          <p:cNvSpPr/>
          <p:nvPr/>
        </p:nvSpPr>
        <p:spPr>
          <a:xfrm>
            <a:off x="4998567" y="228600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5727" y="2286000"/>
            <a:ext cx="1920240" cy="36576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8567" y="27432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 spc="-50">
                <a:solidFill>
                  <a:srgbClr val="FF4F8B"/>
                </a:solidFill>
                <a:latin typeface="Calibr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007" y="40690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200">
                <a:solidFill>
                  <a:srgbClr val="C8CDE5"/>
                </a:solidFill>
                <a:latin typeface="Consolas"/>
              </a:rPr>
              <a:t>endpoints REST</a:t>
            </a:r>
          </a:p>
        </p:txBody>
      </p:sp>
      <p:sp>
        <p:nvSpPr>
          <p:cNvPr id="16" name="metric_9"/>
          <p:cNvSpPr/>
          <p:nvPr/>
        </p:nvSpPr>
        <p:spPr>
          <a:xfrm>
            <a:off x="7421727" y="228600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58887" y="2286000"/>
            <a:ext cx="1920240" cy="36576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1727" y="27432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 spc="-50">
                <a:solidFill>
                  <a:srgbClr val="00FFB2"/>
                </a:solidFill>
                <a:latin typeface="Calibri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3167" y="40690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200">
                <a:solidFill>
                  <a:srgbClr val="C8CDE5"/>
                </a:solidFill>
                <a:latin typeface="Consolas"/>
              </a:rPr>
              <a:t>tests unitaires</a:t>
            </a:r>
          </a:p>
        </p:txBody>
      </p:sp>
      <p:sp>
        <p:nvSpPr>
          <p:cNvPr id="20" name="metric_0"/>
          <p:cNvSpPr/>
          <p:nvPr/>
        </p:nvSpPr>
        <p:spPr>
          <a:xfrm>
            <a:off x="9844887" y="228600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82047" y="2286000"/>
            <a:ext cx="192024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4887" y="27432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 spc="-50">
                <a:solidFill>
                  <a:srgbClr val="FFC107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6327" y="40690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200">
                <a:solidFill>
                  <a:srgbClr val="C8CDE5"/>
                </a:solidFill>
                <a:latin typeface="Consolas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08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PROMESSE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1">
                <a:solidFill>
                  <a:srgbClr val="8B92AB"/>
                </a:solidFill>
                <a:latin typeface="Calibri"/>
              </a:rPr>
              <a:t>Notre promesse</a:t>
            </a:r>
          </a:p>
        </p:txBody>
      </p:sp>
      <p:sp>
        <p:nvSpPr>
          <p:cNvPr id="5" name="promise_1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F5F7FF"/>
                </a:solidFill>
                <a:latin typeface="Calibri"/>
              </a:rPr>
              <a:t>Architecture propre.</a:t>
            </a:r>
          </a:p>
        </p:txBody>
      </p:sp>
      <p:sp>
        <p:nvSpPr>
          <p:cNvPr id="6" name="promise_2"/>
          <p:cNvSpPr txBox="1"/>
          <p:nvPr/>
        </p:nvSpPr>
        <p:spPr>
          <a:xfrm>
            <a:off x="457200" y="36576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00E5FF"/>
                </a:solidFill>
                <a:latin typeface="Calibri"/>
              </a:rPr>
              <a:t>Code testé.</a:t>
            </a:r>
          </a:p>
        </p:txBody>
      </p:sp>
      <p:sp>
        <p:nvSpPr>
          <p:cNvPr id="7" name="promise_3"/>
          <p:cNvSpPr txBox="1"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B57AFF"/>
                </a:solidFill>
                <a:latin typeface="Calibri"/>
              </a:rPr>
              <a:t>Démo qui fonctionne.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09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0" b="1" i="0">
                <a:solidFill>
                  <a:srgbClr val="F5F7FF"/>
                </a:solidFill>
                <a:latin typeface="Calibri"/>
              </a:rPr>
              <a:t>Architecture en couches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1">
                <a:solidFill>
                  <a:srgbClr val="00E5FF"/>
                </a:solidFill>
                <a:latin typeface="Calibri"/>
              </a:rPr>
              <a:t>3 strates techniques  ·  6 domaines fonctionnels</a:t>
            </a:r>
          </a:p>
        </p:txBody>
      </p:sp>
      <p:sp>
        <p:nvSpPr>
          <p:cNvPr id="6" name="arch_cube"/>
          <p:cNvSpPr/>
          <p:nvPr/>
        </p:nvSpPr>
        <p:spPr>
          <a:xfrm>
            <a:off x="4724247" y="457200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41A42"/>
          </a:solidFill>
          <a:ln w="1270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4247" y="5029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8B92A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10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Couche 1 :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L'utilisateur interagit ici - Angular 17 standalone</a:t>
            </a:r>
          </a:p>
        </p:txBody>
      </p:sp>
      <p:sp>
        <p:nvSpPr>
          <p:cNvPr id="6" name="layer_1"/>
          <p:cNvSpPr/>
          <p:nvPr/>
        </p:nvSpPr>
        <p:spPr>
          <a:xfrm>
            <a:off x="746607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6607" y="2880360"/>
            <a:ext cx="45720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2926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00E5FF"/>
                </a:solidFill>
                <a:latin typeface="Consolas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33832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Angular 17 standalone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signals · Bootstrap 5</a:t>
            </a:r>
          </a:p>
        </p:txBody>
      </p:sp>
      <p:sp>
        <p:nvSpPr>
          <p:cNvPr id="10" name="layer_2"/>
          <p:cNvSpPr/>
          <p:nvPr/>
        </p:nvSpPr>
        <p:spPr>
          <a:xfrm>
            <a:off x="4358487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0B0F2C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487" y="3200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525C80"/>
                </a:solidFill>
                <a:latin typeface="Calibri"/>
              </a:rPr>
              <a:t>...</a:t>
            </a:r>
          </a:p>
        </p:txBody>
      </p:sp>
      <p:sp>
        <p:nvSpPr>
          <p:cNvPr id="12" name="layer_3"/>
          <p:cNvSpPr/>
          <p:nvPr/>
        </p:nvSpPr>
        <p:spPr>
          <a:xfrm>
            <a:off x="7970367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0B0F2C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0367" y="3200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525C80"/>
                </a:solidFill>
                <a:latin typeface="Calibri"/>
              </a:rPr>
              <a:t>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11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Couche 2 : Logique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Le cerveau - Spring Boot orchestre les règles</a:t>
            </a:r>
          </a:p>
        </p:txBody>
      </p:sp>
      <p:sp>
        <p:nvSpPr>
          <p:cNvPr id="6" name="layer_1"/>
          <p:cNvSpPr/>
          <p:nvPr/>
        </p:nvSpPr>
        <p:spPr>
          <a:xfrm>
            <a:off x="746607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6607" y="2880360"/>
            <a:ext cx="45720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2926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00E5FF"/>
                </a:solidFill>
                <a:latin typeface="Consolas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33832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Angular 17 standalone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signals · Bootstrap 5</a:t>
            </a:r>
          </a:p>
        </p:txBody>
      </p:sp>
      <p:sp>
        <p:nvSpPr>
          <p:cNvPr id="10" name="layer_2"/>
          <p:cNvSpPr/>
          <p:nvPr/>
        </p:nvSpPr>
        <p:spPr>
          <a:xfrm>
            <a:off x="4358487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8487" y="2880360"/>
            <a:ext cx="45720" cy="109728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2926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B57AFF"/>
                </a:solidFill>
                <a:latin typeface="Consolas"/>
              </a:rPr>
              <a:t>LOGIQUE METIER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33832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Spring Boot 3.3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@Transactional · DTOs</a:t>
            </a:r>
          </a:p>
        </p:txBody>
      </p:sp>
      <p:sp>
        <p:nvSpPr>
          <p:cNvPr id="14" name="layer_3"/>
          <p:cNvSpPr/>
          <p:nvPr/>
        </p:nvSpPr>
        <p:spPr>
          <a:xfrm>
            <a:off x="7970367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0B0F2C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0367" y="3200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525C80"/>
                </a:solidFill>
                <a:latin typeface="Calibri"/>
              </a:rP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12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Couche 3 : Accès aux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Persistance - JPA + MongoDB côte à côte</a:t>
            </a:r>
          </a:p>
        </p:txBody>
      </p:sp>
      <p:sp>
        <p:nvSpPr>
          <p:cNvPr id="6" name="layer_1"/>
          <p:cNvSpPr/>
          <p:nvPr/>
        </p:nvSpPr>
        <p:spPr>
          <a:xfrm>
            <a:off x="746607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6607" y="2880360"/>
            <a:ext cx="45720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2926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00E5FF"/>
                </a:solidFill>
                <a:latin typeface="Consolas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33832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Angular 17 standalone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signals · Bootstrap 5</a:t>
            </a:r>
          </a:p>
        </p:txBody>
      </p:sp>
      <p:sp>
        <p:nvSpPr>
          <p:cNvPr id="10" name="layer_2"/>
          <p:cNvSpPr/>
          <p:nvPr/>
        </p:nvSpPr>
        <p:spPr>
          <a:xfrm>
            <a:off x="4358487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8487" y="2880360"/>
            <a:ext cx="45720" cy="109728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2926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B57AFF"/>
                </a:solidFill>
                <a:latin typeface="Consolas"/>
              </a:rPr>
              <a:t>LOGIQUE METIER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33832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Spring Boot 3.3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@Transactional · DTOs</a:t>
            </a:r>
          </a:p>
        </p:txBody>
      </p:sp>
      <p:sp>
        <p:nvSpPr>
          <p:cNvPr id="14" name="layer_3"/>
          <p:cNvSpPr/>
          <p:nvPr/>
        </p:nvSpPr>
        <p:spPr>
          <a:xfrm>
            <a:off x="7970367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0367" y="2880360"/>
            <a:ext cx="45720" cy="1097280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687" y="2926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FF4F8B"/>
                </a:solidFill>
                <a:latin typeface="Consolas"/>
              </a:rPr>
              <a:t>ACCES DONNEES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687" y="33832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Spring Data JPA + Hibernate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Spring Data 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13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6 domaines fonctionnels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Chaque domaine est un sous-package autonome (DDD)</a:t>
            </a:r>
          </a:p>
        </p:txBody>
      </p:sp>
      <p:sp>
        <p:nvSpPr>
          <p:cNvPr id="6" name="dom_0"/>
          <p:cNvSpPr/>
          <p:nvPr/>
        </p:nvSpPr>
        <p:spPr>
          <a:xfrm>
            <a:off x="746607" y="265176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6607" y="2788920"/>
            <a:ext cx="45720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00E5FF"/>
                </a:solidFill>
                <a:latin typeface="Consola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32918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User · Profile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JWT · Auth</a:t>
            </a:r>
          </a:p>
        </p:txBody>
      </p:sp>
      <p:sp>
        <p:nvSpPr>
          <p:cNvPr id="10" name="dom_1"/>
          <p:cNvSpPr/>
          <p:nvPr/>
        </p:nvSpPr>
        <p:spPr>
          <a:xfrm>
            <a:off x="4358487" y="265176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8487" y="2788920"/>
            <a:ext cx="45720" cy="109728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B57AFF"/>
                </a:solidFill>
                <a:latin typeface="Consolas"/>
              </a:rPr>
              <a:t>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32918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Catégorie · Produit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Recherche</a:t>
            </a:r>
          </a:p>
        </p:txBody>
      </p:sp>
      <p:sp>
        <p:nvSpPr>
          <p:cNvPr id="14" name="dom_2"/>
          <p:cNvSpPr/>
          <p:nvPr/>
        </p:nvSpPr>
        <p:spPr>
          <a:xfrm>
            <a:off x="7970367" y="265176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0367" y="2788920"/>
            <a:ext cx="45720" cy="1097280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687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FF4F8B"/>
                </a:solidFill>
                <a:latin typeface="Consolas"/>
              </a:rPr>
              <a:t>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687" y="32918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Stock · Décrément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atomique</a:t>
            </a:r>
          </a:p>
        </p:txBody>
      </p:sp>
      <p:sp>
        <p:nvSpPr>
          <p:cNvPr id="18" name="dom_3"/>
          <p:cNvSpPr/>
          <p:nvPr/>
        </p:nvSpPr>
        <p:spPr>
          <a:xfrm>
            <a:off x="746607" y="425196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6607" y="4389120"/>
            <a:ext cx="45720" cy="1097280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0927" y="4434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00FFB2"/>
                </a:solidFill>
                <a:latin typeface="Consolas"/>
              </a:rPr>
              <a:t>shopping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0927" y="48920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Cart · CartItem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Prix figé</a:t>
            </a:r>
          </a:p>
        </p:txBody>
      </p:sp>
      <p:sp>
        <p:nvSpPr>
          <p:cNvPr id="22" name="dom_4"/>
          <p:cNvSpPr/>
          <p:nvPr/>
        </p:nvSpPr>
        <p:spPr>
          <a:xfrm>
            <a:off x="4358487" y="425196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58487" y="4389120"/>
            <a:ext cx="45720" cy="10972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2807" y="4434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FFC107"/>
                </a:solidFill>
                <a:latin typeface="Consolas"/>
              </a:rPr>
              <a:t>billing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2807" y="48920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Order · OrderItem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Checkout TX</a:t>
            </a:r>
          </a:p>
        </p:txBody>
      </p:sp>
      <p:sp>
        <p:nvSpPr>
          <p:cNvPr id="26" name="dom_5"/>
          <p:cNvSpPr/>
          <p:nvPr/>
        </p:nvSpPr>
        <p:spPr>
          <a:xfrm>
            <a:off x="7970367" y="425196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0367" y="4389120"/>
            <a:ext cx="45720" cy="109728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4687" y="4434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FF6F61"/>
                </a:solidFill>
                <a:latin typeface="Consola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4687" y="48920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Avis MongoDB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Lecture frequente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14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Anatomie d'un domaine : billing</a:t>
            </a:r>
          </a:p>
        </p:txBody>
      </p:sp>
      <p:sp>
        <p:nvSpPr>
          <p:cNvPr id="5" name="billing_0"/>
          <p:cNvSpPr/>
          <p:nvPr/>
        </p:nvSpPr>
        <p:spPr>
          <a:xfrm>
            <a:off x="1066647" y="2286000"/>
            <a:ext cx="10058400" cy="77724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647" y="2423160"/>
            <a:ext cx="45720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0967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nsolas"/>
              </a:rPr>
              <a:t>OrderController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447" y="24231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onsolas"/>
              </a:rPr>
              <a:t>@RestController · routes /api/orders</a:t>
            </a:r>
          </a:p>
        </p:txBody>
      </p:sp>
      <p:sp>
        <p:nvSpPr>
          <p:cNvPr id="9" name="billing_1"/>
          <p:cNvSpPr/>
          <p:nvPr/>
        </p:nvSpPr>
        <p:spPr>
          <a:xfrm>
            <a:off x="1752447" y="3246120"/>
            <a:ext cx="8686800" cy="77724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52447" y="3383280"/>
            <a:ext cx="45720" cy="50292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6767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7AFF"/>
                </a:solidFill>
                <a:latin typeface="Consolas"/>
              </a:rPr>
              <a:t>OrderService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247" y="33832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onsolas"/>
              </a:rPr>
              <a:t>@Service @Transactional · checkout()</a:t>
            </a:r>
          </a:p>
        </p:txBody>
      </p:sp>
      <p:sp>
        <p:nvSpPr>
          <p:cNvPr id="13" name="billing_2"/>
          <p:cNvSpPr/>
          <p:nvPr/>
        </p:nvSpPr>
        <p:spPr>
          <a:xfrm>
            <a:off x="2438247" y="4206240"/>
            <a:ext cx="7315200" cy="77724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247" y="4343400"/>
            <a:ext cx="45720" cy="502920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2567" y="4251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4F8B"/>
                </a:solidFill>
                <a:latin typeface="Consolas"/>
              </a:rPr>
              <a:t>OrderRepository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4343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onsolas"/>
              </a:rPr>
              <a:t>extends JpaRepository&lt;Order, Long&gt;</a:t>
            </a:r>
          </a:p>
        </p:txBody>
      </p:sp>
      <p:sp>
        <p:nvSpPr>
          <p:cNvPr id="17" name="billing_3"/>
          <p:cNvSpPr/>
          <p:nvPr/>
        </p:nvSpPr>
        <p:spPr>
          <a:xfrm>
            <a:off x="3124047" y="5166360"/>
            <a:ext cx="5943600" cy="77724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24047" y="5303520"/>
            <a:ext cx="45720" cy="502920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8367" y="5212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FFB2"/>
                </a:solidFill>
                <a:latin typeface="Consolas"/>
              </a:rPr>
              <a:t>Order + OrderItem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847" y="53035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onsolas"/>
              </a:rPr>
              <a:t>@Entity · OneToMany cascade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15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Une galaxie de technologies</a:t>
            </a:r>
          </a:p>
        </p:txBody>
      </p:sp>
      <p:sp>
        <p:nvSpPr>
          <p:cNvPr id="5" name="nucleus"/>
          <p:cNvSpPr/>
          <p:nvPr/>
        </p:nvSpPr>
        <p:spPr>
          <a:xfrm>
            <a:off x="5272887" y="3108960"/>
            <a:ext cx="1645920" cy="1645920"/>
          </a:xfrm>
          <a:prstGeom prst="ellipse">
            <a:avLst/>
          </a:prstGeom>
          <a:solidFill>
            <a:srgbClr val="141A4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4247" y="3657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Calibri"/>
              </a:rPr>
              <a:t>E-STORE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95847" y="1371600"/>
            <a:ext cx="0" cy="2560320"/>
          </a:xfrm>
          <a:prstGeom prst="line">
            <a:avLst/>
          </a:prstGeom>
          <a:ln w="9525">
            <a:solidFill>
              <a:srgbClr val="293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81447" y="10058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00E5FF"/>
                </a:solidFill>
                <a:latin typeface="Calibri"/>
              </a:rPr>
              <a:t>Angular 17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95847" y="2651761"/>
            <a:ext cx="2217302" cy="1280159"/>
          </a:xfrm>
          <a:prstGeom prst="line">
            <a:avLst/>
          </a:prstGeom>
          <a:ln w="9525">
            <a:solidFill>
              <a:srgbClr val="293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98749" y="2286001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B5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B57AFF"/>
                </a:solidFill>
                <a:latin typeface="Calibri"/>
              </a:rPr>
              <a:t>Spring Boot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3931920"/>
            <a:ext cx="2217302" cy="1280159"/>
          </a:xfrm>
          <a:prstGeom prst="line">
            <a:avLst/>
          </a:prstGeom>
          <a:ln w="9525">
            <a:solidFill>
              <a:srgbClr val="293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98749" y="4846319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FF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FF4F8B"/>
                </a:solidFill>
                <a:latin typeface="Calibri"/>
              </a:rPr>
              <a:t>MySQL · H2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3931920"/>
            <a:ext cx="0" cy="2560320"/>
          </a:xfrm>
          <a:prstGeom prst="line">
            <a:avLst/>
          </a:prstGeom>
          <a:ln w="9525">
            <a:solidFill>
              <a:srgbClr val="293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81447" y="61264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00F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00FFB2"/>
                </a:solidFill>
                <a:latin typeface="Calibri"/>
              </a:rPr>
              <a:t>MongoDB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878545" y="3931920"/>
            <a:ext cx="2217302" cy="1280159"/>
          </a:xfrm>
          <a:prstGeom prst="line">
            <a:avLst/>
          </a:prstGeom>
          <a:ln w="9525">
            <a:solidFill>
              <a:srgbClr val="293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64145" y="4846319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Spring Security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878545" y="2651761"/>
            <a:ext cx="2217302" cy="1280159"/>
          </a:xfrm>
          <a:prstGeom prst="line">
            <a:avLst/>
          </a:prstGeom>
          <a:ln w="9525">
            <a:solidFill>
              <a:srgbClr val="293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64145" y="2286001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FF6F61"/>
                </a:solidFill>
                <a:latin typeface="Calibri"/>
              </a:rPr>
              <a:t>Maven · npm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16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Frontend Angular 17</a:t>
            </a:r>
          </a:p>
        </p:txBody>
      </p:sp>
      <p:sp>
        <p:nvSpPr>
          <p:cNvPr id="5" name="fe_0"/>
          <p:cNvSpPr/>
          <p:nvPr/>
        </p:nvSpPr>
        <p:spPr>
          <a:xfrm>
            <a:off x="365760" y="228600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423160"/>
            <a:ext cx="45720" cy="12801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Standalone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Pas de NgModule. Imports directs.</a:t>
            </a:r>
            <a:br/>
            <a:r>
              <a:rPr sz="1200" b="0" i="0">
                <a:solidFill>
                  <a:srgbClr val="C8CDE5"/>
                </a:solidFill>
                <a:latin typeface="Calibri"/>
              </a:rPr>
              <a:t>Lazy-loading natif par route.</a:t>
            </a:r>
          </a:p>
        </p:txBody>
      </p:sp>
      <p:sp>
        <p:nvSpPr>
          <p:cNvPr id="9" name="fe_1"/>
          <p:cNvSpPr/>
          <p:nvPr/>
        </p:nvSpPr>
        <p:spPr>
          <a:xfrm>
            <a:off x="6080760" y="228600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423160"/>
            <a:ext cx="45720" cy="128016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7AFF"/>
                </a:solidFill>
                <a:latin typeface="Calibri"/>
              </a:rPr>
              <a:t>Signals reactifs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063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Etat reactif sans RxJS.</a:t>
            </a:r>
            <a:br/>
            <a:r>
              <a:rPr sz="1200" b="0" i="0">
                <a:solidFill>
                  <a:srgbClr val="C8CDE5"/>
                </a:solidFill>
                <a:latin typeface="Calibri"/>
              </a:rPr>
              <a:t>cart.itemCount() -&gt; badge auto-update.</a:t>
            </a:r>
          </a:p>
        </p:txBody>
      </p:sp>
      <p:sp>
        <p:nvSpPr>
          <p:cNvPr id="13" name="fe_2"/>
          <p:cNvSpPr/>
          <p:nvPr/>
        </p:nvSpPr>
        <p:spPr>
          <a:xfrm>
            <a:off x="365760" y="402336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45720" cy="1280160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4F8B"/>
                </a:solidFill>
                <a:latin typeface="Calibri"/>
              </a:rPr>
              <a:t>Interceptors fonctionnels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AuthInterceptor + ErrorInterceptor.</a:t>
            </a:r>
            <a:br/>
            <a:r>
              <a:rPr sz="1200" b="0" i="0">
                <a:solidFill>
                  <a:srgbClr val="C8CDE5"/>
                </a:solidFill>
                <a:latin typeface="Calibri"/>
              </a:rPr>
              <a:t>Gestion centralisee.</a:t>
            </a:r>
          </a:p>
        </p:txBody>
      </p:sp>
      <p:sp>
        <p:nvSpPr>
          <p:cNvPr id="17" name="fe_3"/>
          <p:cNvSpPr/>
          <p:nvPr/>
        </p:nvSpPr>
        <p:spPr>
          <a:xfrm>
            <a:off x="6080760" y="402336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160520"/>
            <a:ext cx="45720" cy="1280160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251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FFB2"/>
                </a:solidFill>
                <a:latin typeface="Calibri"/>
              </a:rPr>
              <a:t>Bootstrap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CSS-only. Grid responsive.</a:t>
            </a:r>
            <a:br/>
            <a:r>
              <a:rPr sz="1200" b="0" i="0">
                <a:solidFill>
                  <a:srgbClr val="C8CDE5"/>
                </a:solidFill>
                <a:latin typeface="Calibri"/>
              </a:rPr>
              <a:t>Thematique cohesive.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400">
                <a:solidFill>
                  <a:srgbClr val="8B92AB"/>
                </a:solidFill>
                <a:latin typeface="Consolas"/>
              </a:rPr>
              <a:t>BUNDLE INITIAL : 13 KO  ·  TIME TO INTERACTIVE &lt; 1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17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Backend Spring Boot 3.3</a:t>
            </a:r>
          </a:p>
        </p:txBody>
      </p:sp>
      <p:sp>
        <p:nvSpPr>
          <p:cNvPr id="5" name="be_0"/>
          <p:cNvSpPr/>
          <p:nvPr/>
        </p:nvSpPr>
        <p:spPr>
          <a:xfrm>
            <a:off x="365760" y="228600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423160"/>
            <a:ext cx="45720" cy="12801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Spring Boot 3.3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Java 17 · Auto-configuration</a:t>
            </a:r>
            <a:br/>
            <a:r>
              <a:rPr sz="1200" b="0" i="0">
                <a:solidFill>
                  <a:srgbClr val="C8CDE5"/>
                </a:solidFill>
                <a:latin typeface="Calibri"/>
              </a:rPr>
              <a:t>Productivite × 10</a:t>
            </a:r>
          </a:p>
        </p:txBody>
      </p:sp>
      <p:sp>
        <p:nvSpPr>
          <p:cNvPr id="9" name="be_1"/>
          <p:cNvSpPr/>
          <p:nvPr/>
        </p:nvSpPr>
        <p:spPr>
          <a:xfrm>
            <a:off x="6080760" y="228600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423160"/>
            <a:ext cx="45720" cy="128016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7AFF"/>
                </a:solidFill>
                <a:latin typeface="Calibri"/>
              </a:rPr>
              <a:t>Spring Security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063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Filter chain · @PreAuthorize</a:t>
            </a:r>
            <a:br/>
            <a:r>
              <a:rPr sz="1200" b="0" i="0">
                <a:solidFill>
                  <a:srgbClr val="C8CDE5"/>
                </a:solidFill>
                <a:latin typeface="Calibri"/>
              </a:rPr>
              <a:t>Stateless JWT</a:t>
            </a:r>
          </a:p>
        </p:txBody>
      </p:sp>
      <p:sp>
        <p:nvSpPr>
          <p:cNvPr id="13" name="be_2"/>
          <p:cNvSpPr/>
          <p:nvPr/>
        </p:nvSpPr>
        <p:spPr>
          <a:xfrm>
            <a:off x="365760" y="402336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45720" cy="1280160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4F8B"/>
                </a:solidFill>
                <a:latin typeface="Calibri"/>
              </a:rPr>
              <a:t>Spring Data JPA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JpaRepository derive</a:t>
            </a:r>
            <a:br/>
            <a:r>
              <a:rPr sz="1200" b="0" i="0">
                <a:solidFill>
                  <a:srgbClr val="C8CDE5"/>
                </a:solidFill>
                <a:latin typeface="Calibri"/>
              </a:rPr>
              <a:t>Requetes JPQL declarees</a:t>
            </a:r>
          </a:p>
        </p:txBody>
      </p:sp>
      <p:sp>
        <p:nvSpPr>
          <p:cNvPr id="17" name="be_3"/>
          <p:cNvSpPr/>
          <p:nvPr/>
        </p:nvSpPr>
        <p:spPr>
          <a:xfrm>
            <a:off x="6080760" y="402336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160520"/>
            <a:ext cx="45720" cy="1280160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251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FFB2"/>
                </a:solidFill>
                <a:latin typeface="Calibri"/>
              </a:rPr>
              <a:t>Spring Data Mongo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MongoRepository derive</a:t>
            </a:r>
            <a:br/>
            <a:r>
              <a:rPr sz="1200" b="0" i="0">
                <a:solidFill>
                  <a:srgbClr val="C8CDE5"/>
                </a:solidFill>
                <a:latin typeface="Calibri"/>
              </a:rPr>
              <a:t>Indexed @Indexed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400">
                <a:solidFill>
                  <a:srgbClr val="8B92AB"/>
                </a:solidFill>
                <a:latin typeface="Consolas"/>
              </a:rPr>
              <a:t>DEMARRAGE A FROID &lt; 8 S  ·  AUTO-RELOAD EN 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18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Persistance hybride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Le bon outil pour la bonne donnée</a:t>
            </a:r>
          </a:p>
        </p:txBody>
      </p:sp>
      <p:sp>
        <p:nvSpPr>
          <p:cNvPr id="6" name="sql_card"/>
          <p:cNvSpPr/>
          <p:nvPr/>
        </p:nvSpPr>
        <p:spPr>
          <a:xfrm>
            <a:off x="548640" y="246888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52120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Calibri"/>
              </a:rPr>
              <a:t>MySQL 8 · 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400">
                <a:solidFill>
                  <a:srgbClr val="8B92AB"/>
                </a:solidFill>
                <a:latin typeface="Consolas"/>
              </a:rPr>
              <a:t>RELATIONNEL ·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● Utilisateurs, profils,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● Catalogue produits + catégories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● Stock &amp; inventaire en temps réel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● Panier et items du panier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● Commandes transactionnelles</a:t>
            </a:r>
          </a:p>
        </p:txBody>
      </p:sp>
      <p:sp>
        <p:nvSpPr>
          <p:cNvPr id="15" name="nosql_card"/>
          <p:cNvSpPr/>
          <p:nvPr/>
        </p:nvSpPr>
        <p:spPr>
          <a:xfrm>
            <a:off x="6217920" y="246888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468880"/>
            <a:ext cx="521208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57AFF"/>
                </a:solidFill>
                <a:latin typeface="Calibri"/>
              </a:rPr>
              <a:t>MongoDB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400">
                <a:solidFill>
                  <a:srgbClr val="8B92AB"/>
                </a:solidFill>
                <a:latin typeface="Consolas"/>
              </a:rPr>
              <a:t>DOCUMENTAIRE · FLEXIBLE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40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◆ Avis et notes des produits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062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◆ Schema flexible (JSON)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72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◆ Lecture haute frequence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◆ findByProductIdOrderByDate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3035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◆ Index automatique @Indexed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19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DevOps &amp; environnements</a:t>
            </a:r>
          </a:p>
        </p:txBody>
      </p:sp>
      <p:sp>
        <p:nvSpPr>
          <p:cNvPr id="5" name="profile_dev"/>
          <p:cNvSpPr/>
          <p:nvPr/>
        </p:nvSpPr>
        <p:spPr>
          <a:xfrm>
            <a:off x="655167" y="2286000"/>
            <a:ext cx="5303520" cy="3657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327" y="2286000"/>
            <a:ext cx="50292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927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500">
                <a:solidFill>
                  <a:srgbClr val="00E5FF"/>
                </a:solidFill>
                <a:latin typeface="Consolas"/>
              </a:rPr>
              <a:t>PROFIL 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927" y="2926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F7FF"/>
                </a:solidFill>
                <a:latin typeface="Calibri"/>
              </a:rPr>
              <a:t>H2 in-memory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3657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▸ Aucune installation requise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367" y="40233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▸ Demarrage en 8 secondes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367" y="43891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▸ Console H2 sur /h2-console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367" y="47548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▸ Idéal soutenance &amp; démo</a:t>
            </a:r>
          </a:p>
        </p:txBody>
      </p:sp>
      <p:sp>
        <p:nvSpPr>
          <p:cNvPr id="13" name="profile_prod"/>
          <p:cNvSpPr/>
          <p:nvPr/>
        </p:nvSpPr>
        <p:spPr>
          <a:xfrm>
            <a:off x="6233007" y="2286000"/>
            <a:ext cx="5303520" cy="3657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0167" y="2286000"/>
            <a:ext cx="502920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500">
                <a:solidFill>
                  <a:srgbClr val="B57AFF"/>
                </a:solidFill>
                <a:latin typeface="Consolas"/>
              </a:rPr>
              <a:t>PROFIL PROD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2926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F7FF"/>
                </a:solidFill>
                <a:latin typeface="Calibri"/>
              </a:rPr>
              <a:t>Docker 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0207" y="3657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▸ MySQL 8 + MongoDB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40233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▸ phpMyAdmin (port 8081)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43891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▸ mongo-express (port 8082)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0207" y="47548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DE5"/>
                </a:solidFill>
                <a:latin typeface="Calibri"/>
              </a:rPr>
              <a:t>▸ Volumes persistents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20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SECURITE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Cycle de vie d'un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Étape 1 : le client demande l'accès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300">
                <a:solidFill>
                  <a:srgbClr val="00E5FF"/>
                </a:solidFill>
                <a:latin typeface="Consolas"/>
              </a:rPr>
              <a:t>▣ NAVIGATEUR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300">
                <a:solidFill>
                  <a:srgbClr val="B57AFF"/>
                </a:solidFill>
                <a:latin typeface="Consolas"/>
              </a:rPr>
              <a:t>▣ SERVEUR SPRING BOOT</a:t>
            </a:r>
          </a:p>
        </p:txBody>
      </p:sp>
      <p:sp>
        <p:nvSpPr>
          <p:cNvPr id="8" name="col_client"/>
          <p:cNvSpPr/>
          <p:nvPr/>
        </p:nvSpPr>
        <p:spPr>
          <a:xfrm>
            <a:off x="548640" y="283464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45720" cy="3108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l_server"/>
          <p:cNvSpPr/>
          <p:nvPr/>
        </p:nvSpPr>
        <p:spPr>
          <a:xfrm>
            <a:off x="6583680" y="283464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971800"/>
            <a:ext cx="45720" cy="310896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_circle_1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1</a:t>
            </a:r>
          </a:p>
        </p:txBody>
      </p:sp>
      <p:sp>
        <p:nvSpPr>
          <p:cNvPr id="13" name="step_text_1"/>
          <p:cNvSpPr txBox="1"/>
          <p:nvPr/>
        </p:nvSpPr>
        <p:spPr>
          <a:xfrm>
            <a:off x="1234440" y="31546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POST /api/auth/login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(email + password)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21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SECURITE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Cycle de vie d'un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Étapes 2-3 : le serveur valide et signe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300">
                <a:solidFill>
                  <a:srgbClr val="00E5FF"/>
                </a:solidFill>
                <a:latin typeface="Consolas"/>
              </a:rPr>
              <a:t>▣ NAVIGATEUR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300">
                <a:solidFill>
                  <a:srgbClr val="B57AFF"/>
                </a:solidFill>
                <a:latin typeface="Consolas"/>
              </a:rPr>
              <a:t>▣ SERVEUR SPRING BOOT</a:t>
            </a:r>
          </a:p>
        </p:txBody>
      </p:sp>
      <p:sp>
        <p:nvSpPr>
          <p:cNvPr id="8" name="col_client"/>
          <p:cNvSpPr/>
          <p:nvPr/>
        </p:nvSpPr>
        <p:spPr>
          <a:xfrm>
            <a:off x="548640" y="283464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45720" cy="3108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l_server"/>
          <p:cNvSpPr/>
          <p:nvPr/>
        </p:nvSpPr>
        <p:spPr>
          <a:xfrm>
            <a:off x="6583680" y="283464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971800"/>
            <a:ext cx="45720" cy="310896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_circle_1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1</a:t>
            </a:r>
          </a:p>
        </p:txBody>
      </p:sp>
      <p:sp>
        <p:nvSpPr>
          <p:cNvPr id="13" name="step_text_1"/>
          <p:cNvSpPr txBox="1"/>
          <p:nvPr/>
        </p:nvSpPr>
        <p:spPr>
          <a:xfrm>
            <a:off x="1234440" y="31546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POST /api/auth/login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(email + password)</a:t>
            </a:r>
          </a:p>
        </p:txBody>
      </p:sp>
      <p:sp>
        <p:nvSpPr>
          <p:cNvPr id="14" name="step_circle_2"/>
          <p:cNvSpPr/>
          <p:nvPr/>
        </p:nvSpPr>
        <p:spPr>
          <a:xfrm>
            <a:off x="6766560" y="4005072"/>
            <a:ext cx="365760" cy="365760"/>
          </a:xfrm>
          <a:prstGeom prst="ellipse">
            <a:avLst/>
          </a:prstGeom>
          <a:solidFill>
            <a:srgbClr val="B57A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2</a:t>
            </a:r>
          </a:p>
        </p:txBody>
      </p:sp>
      <p:sp>
        <p:nvSpPr>
          <p:cNvPr id="15" name="step_text_2"/>
          <p:cNvSpPr txBox="1"/>
          <p:nvPr/>
        </p:nvSpPr>
        <p:spPr>
          <a:xfrm>
            <a:off x="7269480" y="393192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Validation BCrypt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passwordEncoder.matches()</a:t>
            </a:r>
          </a:p>
        </p:txBody>
      </p:sp>
      <p:sp>
        <p:nvSpPr>
          <p:cNvPr id="16" name="step_circle_3"/>
          <p:cNvSpPr/>
          <p:nvPr/>
        </p:nvSpPr>
        <p:spPr>
          <a:xfrm>
            <a:off x="6766560" y="4782312"/>
            <a:ext cx="365760" cy="365760"/>
          </a:xfrm>
          <a:prstGeom prst="ellipse">
            <a:avLst/>
          </a:prstGeom>
          <a:solidFill>
            <a:srgbClr val="B57A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3</a:t>
            </a:r>
          </a:p>
        </p:txBody>
      </p:sp>
      <p:sp>
        <p:nvSpPr>
          <p:cNvPr id="17" name="step_text_3"/>
          <p:cNvSpPr txBox="1"/>
          <p:nvPr/>
        </p:nvSpPr>
        <p:spPr>
          <a:xfrm>
            <a:off x="7269480" y="470916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Generation JWT HS256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subject + role + uid (24h)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22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SECURITE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Cycle de vie d'un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Étapes 4-5 : le token voyage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300">
                <a:solidFill>
                  <a:srgbClr val="00E5FF"/>
                </a:solidFill>
                <a:latin typeface="Consolas"/>
              </a:rPr>
              <a:t>▣ NAVIGATEUR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300">
                <a:solidFill>
                  <a:srgbClr val="B57AFF"/>
                </a:solidFill>
                <a:latin typeface="Consolas"/>
              </a:rPr>
              <a:t>▣ SERVEUR SPRING BOOT</a:t>
            </a:r>
          </a:p>
        </p:txBody>
      </p:sp>
      <p:sp>
        <p:nvSpPr>
          <p:cNvPr id="8" name="col_client"/>
          <p:cNvSpPr/>
          <p:nvPr/>
        </p:nvSpPr>
        <p:spPr>
          <a:xfrm>
            <a:off x="548640" y="283464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45720" cy="3108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l_server"/>
          <p:cNvSpPr/>
          <p:nvPr/>
        </p:nvSpPr>
        <p:spPr>
          <a:xfrm>
            <a:off x="6583680" y="283464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971800"/>
            <a:ext cx="45720" cy="310896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_circle_1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1</a:t>
            </a:r>
          </a:p>
        </p:txBody>
      </p:sp>
      <p:sp>
        <p:nvSpPr>
          <p:cNvPr id="13" name="step_text_1"/>
          <p:cNvSpPr txBox="1"/>
          <p:nvPr/>
        </p:nvSpPr>
        <p:spPr>
          <a:xfrm>
            <a:off x="1234440" y="31546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POST /api/auth/login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(email + password)</a:t>
            </a:r>
          </a:p>
        </p:txBody>
      </p:sp>
      <p:sp>
        <p:nvSpPr>
          <p:cNvPr id="14" name="step_circle_2"/>
          <p:cNvSpPr/>
          <p:nvPr/>
        </p:nvSpPr>
        <p:spPr>
          <a:xfrm>
            <a:off x="6766560" y="4005072"/>
            <a:ext cx="365760" cy="365760"/>
          </a:xfrm>
          <a:prstGeom prst="ellipse">
            <a:avLst/>
          </a:prstGeom>
          <a:solidFill>
            <a:srgbClr val="B57A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2</a:t>
            </a:r>
          </a:p>
        </p:txBody>
      </p:sp>
      <p:sp>
        <p:nvSpPr>
          <p:cNvPr id="15" name="step_text_2"/>
          <p:cNvSpPr txBox="1"/>
          <p:nvPr/>
        </p:nvSpPr>
        <p:spPr>
          <a:xfrm>
            <a:off x="7269480" y="393192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Validation BCrypt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passwordEncoder.matches()</a:t>
            </a:r>
          </a:p>
        </p:txBody>
      </p:sp>
      <p:sp>
        <p:nvSpPr>
          <p:cNvPr id="16" name="step_circle_3"/>
          <p:cNvSpPr/>
          <p:nvPr/>
        </p:nvSpPr>
        <p:spPr>
          <a:xfrm>
            <a:off x="6766560" y="4782312"/>
            <a:ext cx="365760" cy="365760"/>
          </a:xfrm>
          <a:prstGeom prst="ellipse">
            <a:avLst/>
          </a:prstGeom>
          <a:solidFill>
            <a:srgbClr val="B57A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3</a:t>
            </a:r>
          </a:p>
        </p:txBody>
      </p:sp>
      <p:sp>
        <p:nvSpPr>
          <p:cNvPr id="17" name="step_text_3"/>
          <p:cNvSpPr txBox="1"/>
          <p:nvPr/>
        </p:nvSpPr>
        <p:spPr>
          <a:xfrm>
            <a:off x="7269480" y="470916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Generation JWT HS256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subject + role + uid (24h)</a:t>
            </a:r>
          </a:p>
        </p:txBody>
      </p:sp>
      <p:sp>
        <p:nvSpPr>
          <p:cNvPr id="18" name="step_circle_4"/>
          <p:cNvSpPr/>
          <p:nvPr/>
        </p:nvSpPr>
        <p:spPr>
          <a:xfrm>
            <a:off x="731520" y="5559552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4</a:t>
            </a:r>
          </a:p>
        </p:txBody>
      </p:sp>
      <p:sp>
        <p:nvSpPr>
          <p:cNvPr id="19" name="step_text_4"/>
          <p:cNvSpPr txBox="1"/>
          <p:nvPr/>
        </p:nvSpPr>
        <p:spPr>
          <a:xfrm>
            <a:off x="1234440" y="548640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Stockage localStorage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'estore.token'</a:t>
            </a:r>
          </a:p>
        </p:txBody>
      </p:sp>
      <p:sp>
        <p:nvSpPr>
          <p:cNvPr id="20" name="step_circle_5"/>
          <p:cNvSpPr/>
          <p:nvPr/>
        </p:nvSpPr>
        <p:spPr>
          <a:xfrm>
            <a:off x="731520" y="6336792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5</a:t>
            </a:r>
          </a:p>
        </p:txBody>
      </p:sp>
      <p:sp>
        <p:nvSpPr>
          <p:cNvPr id="21" name="step_text_5"/>
          <p:cNvSpPr txBox="1"/>
          <p:nvPr/>
        </p:nvSpPr>
        <p:spPr>
          <a:xfrm>
            <a:off x="1234440" y="626364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Requete suivante :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AuthInterceptor → Bearer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23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SECURITE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Cycle de vie d'un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Boucle complète : 6 étapes verrouillées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300">
                <a:solidFill>
                  <a:srgbClr val="00E5FF"/>
                </a:solidFill>
                <a:latin typeface="Consolas"/>
              </a:rPr>
              <a:t>▣ NAVIGATEUR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300">
                <a:solidFill>
                  <a:srgbClr val="B57AFF"/>
                </a:solidFill>
                <a:latin typeface="Consolas"/>
              </a:rPr>
              <a:t>▣ SERVEUR SPRING BOOT</a:t>
            </a:r>
          </a:p>
        </p:txBody>
      </p:sp>
      <p:sp>
        <p:nvSpPr>
          <p:cNvPr id="8" name="col_client"/>
          <p:cNvSpPr/>
          <p:nvPr/>
        </p:nvSpPr>
        <p:spPr>
          <a:xfrm>
            <a:off x="548640" y="283464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45720" cy="3108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l_server"/>
          <p:cNvSpPr/>
          <p:nvPr/>
        </p:nvSpPr>
        <p:spPr>
          <a:xfrm>
            <a:off x="6583680" y="283464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971800"/>
            <a:ext cx="45720" cy="310896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_circle_1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1</a:t>
            </a:r>
          </a:p>
        </p:txBody>
      </p:sp>
      <p:sp>
        <p:nvSpPr>
          <p:cNvPr id="13" name="step_text_1"/>
          <p:cNvSpPr txBox="1"/>
          <p:nvPr/>
        </p:nvSpPr>
        <p:spPr>
          <a:xfrm>
            <a:off x="1234440" y="31546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POST /api/auth/login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(email + password)</a:t>
            </a:r>
          </a:p>
        </p:txBody>
      </p:sp>
      <p:sp>
        <p:nvSpPr>
          <p:cNvPr id="14" name="step_circle_2"/>
          <p:cNvSpPr/>
          <p:nvPr/>
        </p:nvSpPr>
        <p:spPr>
          <a:xfrm>
            <a:off x="6766560" y="4005072"/>
            <a:ext cx="365760" cy="365760"/>
          </a:xfrm>
          <a:prstGeom prst="ellipse">
            <a:avLst/>
          </a:prstGeom>
          <a:solidFill>
            <a:srgbClr val="B57A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2</a:t>
            </a:r>
          </a:p>
        </p:txBody>
      </p:sp>
      <p:sp>
        <p:nvSpPr>
          <p:cNvPr id="15" name="step_text_2"/>
          <p:cNvSpPr txBox="1"/>
          <p:nvPr/>
        </p:nvSpPr>
        <p:spPr>
          <a:xfrm>
            <a:off x="7269480" y="393192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Validation BCrypt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passwordEncoder.matches()</a:t>
            </a:r>
          </a:p>
        </p:txBody>
      </p:sp>
      <p:sp>
        <p:nvSpPr>
          <p:cNvPr id="16" name="step_circle_3"/>
          <p:cNvSpPr/>
          <p:nvPr/>
        </p:nvSpPr>
        <p:spPr>
          <a:xfrm>
            <a:off x="6766560" y="4782312"/>
            <a:ext cx="365760" cy="365760"/>
          </a:xfrm>
          <a:prstGeom prst="ellipse">
            <a:avLst/>
          </a:prstGeom>
          <a:solidFill>
            <a:srgbClr val="B57A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3</a:t>
            </a:r>
          </a:p>
        </p:txBody>
      </p:sp>
      <p:sp>
        <p:nvSpPr>
          <p:cNvPr id="17" name="step_text_3"/>
          <p:cNvSpPr txBox="1"/>
          <p:nvPr/>
        </p:nvSpPr>
        <p:spPr>
          <a:xfrm>
            <a:off x="7269480" y="470916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Generation JWT HS256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subject + role + uid (24h)</a:t>
            </a:r>
          </a:p>
        </p:txBody>
      </p:sp>
      <p:sp>
        <p:nvSpPr>
          <p:cNvPr id="18" name="step_circle_4"/>
          <p:cNvSpPr/>
          <p:nvPr/>
        </p:nvSpPr>
        <p:spPr>
          <a:xfrm>
            <a:off x="731520" y="5559552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4</a:t>
            </a:r>
          </a:p>
        </p:txBody>
      </p:sp>
      <p:sp>
        <p:nvSpPr>
          <p:cNvPr id="19" name="step_text_4"/>
          <p:cNvSpPr txBox="1"/>
          <p:nvPr/>
        </p:nvSpPr>
        <p:spPr>
          <a:xfrm>
            <a:off x="1234440" y="548640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Stockage localStorage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'estore.token'</a:t>
            </a:r>
          </a:p>
        </p:txBody>
      </p:sp>
      <p:sp>
        <p:nvSpPr>
          <p:cNvPr id="20" name="step_circle_5"/>
          <p:cNvSpPr/>
          <p:nvPr/>
        </p:nvSpPr>
        <p:spPr>
          <a:xfrm>
            <a:off x="731520" y="6336792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5</a:t>
            </a:r>
          </a:p>
        </p:txBody>
      </p:sp>
      <p:sp>
        <p:nvSpPr>
          <p:cNvPr id="21" name="step_text_5"/>
          <p:cNvSpPr txBox="1"/>
          <p:nvPr/>
        </p:nvSpPr>
        <p:spPr>
          <a:xfrm>
            <a:off x="1234440" y="626364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Requete suivante :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AuthInterceptor → Bearer</a:t>
            </a:r>
          </a:p>
        </p:txBody>
      </p:sp>
      <p:sp>
        <p:nvSpPr>
          <p:cNvPr id="22" name="step_circle_6"/>
          <p:cNvSpPr/>
          <p:nvPr/>
        </p:nvSpPr>
        <p:spPr>
          <a:xfrm>
            <a:off x="6766560" y="7114032"/>
            <a:ext cx="365760" cy="365760"/>
          </a:xfrm>
          <a:prstGeom prst="ellipse">
            <a:avLst/>
          </a:prstGeom>
          <a:solidFill>
            <a:srgbClr val="B57AFF"/>
          </a:solidFill>
          <a:ln w="127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5081E"/>
                </a:solidFill>
              </a:rPr>
              <a:t>6</a:t>
            </a:r>
          </a:p>
        </p:txBody>
      </p:sp>
      <p:sp>
        <p:nvSpPr>
          <p:cNvPr id="23" name="step_text_6"/>
          <p:cNvSpPr txBox="1"/>
          <p:nvPr/>
        </p:nvSpPr>
        <p:spPr>
          <a:xfrm>
            <a:off x="7269480" y="70408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JwtAuthFilter valide.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@PreAuthorize verifie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24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SECURITE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4 verrous de sécurité</a:t>
            </a:r>
          </a:p>
        </p:txBody>
      </p:sp>
      <p:sp>
        <p:nvSpPr>
          <p:cNvPr id="5" name="lock_0"/>
          <p:cNvSpPr/>
          <p:nvPr/>
        </p:nvSpPr>
        <p:spPr>
          <a:xfrm>
            <a:off x="495147" y="228600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307" y="2286000"/>
            <a:ext cx="24231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147" y="27432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00E5FF"/>
                </a:solidFill>
                <a:latin typeface="Calibri"/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147" y="35661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BCrypt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41148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DE5"/>
                </a:solidFill>
                <a:latin typeface="Calibri"/>
              </a:rPr>
              <a:t>Hash one-way avec sel.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Coût 10 (&gt;1500 ms par tentative).</a:t>
            </a:r>
          </a:p>
        </p:txBody>
      </p:sp>
      <p:sp>
        <p:nvSpPr>
          <p:cNvPr id="10" name="lock_1"/>
          <p:cNvSpPr/>
          <p:nvPr/>
        </p:nvSpPr>
        <p:spPr>
          <a:xfrm>
            <a:off x="3329787" y="228600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66947" y="2286000"/>
            <a:ext cx="242316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9787" y="27432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B57AFF"/>
                </a:solidFill>
                <a:latin typeface="Calibr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9787" y="35661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JWT HS256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2667" y="41148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DE5"/>
                </a:solidFill>
                <a:latin typeface="Calibri"/>
              </a:rPr>
              <a:t>Signature HMAC-SHA-256.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Clé secrète 256 bits.</a:t>
            </a:r>
          </a:p>
        </p:txBody>
      </p:sp>
      <p:sp>
        <p:nvSpPr>
          <p:cNvPr id="15" name="lock_2"/>
          <p:cNvSpPr/>
          <p:nvPr/>
        </p:nvSpPr>
        <p:spPr>
          <a:xfrm>
            <a:off x="6164427" y="228600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1587" y="2286000"/>
            <a:ext cx="2423160" cy="36576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7432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F4F8B"/>
                </a:solidFill>
                <a:latin typeface="Calibri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4427" y="35661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Filter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41148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DE5"/>
                </a:solidFill>
                <a:latin typeface="Calibri"/>
              </a:rPr>
              <a:t>JwtAuthenticationFilter sur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chaque requête HTTP.</a:t>
            </a:r>
          </a:p>
        </p:txBody>
      </p:sp>
      <p:sp>
        <p:nvSpPr>
          <p:cNvPr id="20" name="lock_3"/>
          <p:cNvSpPr/>
          <p:nvPr/>
        </p:nvSpPr>
        <p:spPr>
          <a:xfrm>
            <a:off x="8999067" y="228600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36227" y="2286000"/>
            <a:ext cx="2423160" cy="36576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9067" y="27432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00FFB2"/>
                </a:solidFill>
                <a:latin typeface="Calibri"/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9067" y="35661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@PreAuthorize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1947" y="41148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DE5"/>
                </a:solidFill>
                <a:latin typeface="Calibri"/>
              </a:rPr>
              <a:t>Verrou méthode.</a:t>
            </a:r>
            <a:br/>
            <a:r>
              <a:rPr sz="1100" b="0" i="0">
                <a:solidFill>
                  <a:srgbClr val="C8CDE5"/>
                </a:solidFill>
                <a:latin typeface="Calibri"/>
              </a:rPr>
              <a:t>ADMIN sur les CRUD sensibles.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25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ATOMICITE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0" b="1" i="0" spc="-50">
                <a:solidFill>
                  <a:srgbClr val="F5F7FF"/>
                </a:solidFill>
                <a:latin typeface="Calibri"/>
              </a:rPr>
              <a:t>Tout ou rien.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1">
                <a:solidFill>
                  <a:srgbClr val="00E5FF"/>
                </a:solidFill>
                <a:latin typeface="Calibri"/>
              </a:rPr>
              <a:t>L'atomicité ACID, en pratique.</a:t>
            </a:r>
          </a:p>
        </p:txBody>
      </p:sp>
      <p:sp>
        <p:nvSpPr>
          <p:cNvPr id="6" name="gear_0"/>
          <p:cNvSpPr/>
          <p:nvPr/>
        </p:nvSpPr>
        <p:spPr>
          <a:xfrm>
            <a:off x="2895447" y="5029200"/>
            <a:ext cx="731520" cy="73152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95447" y="52120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5081E"/>
                </a:solidFill>
                <a:latin typeface="Calibri"/>
              </a:rPr>
              <a:t>1</a:t>
            </a:r>
          </a:p>
        </p:txBody>
      </p:sp>
      <p:sp>
        <p:nvSpPr>
          <p:cNvPr id="8" name="gear_1"/>
          <p:cNvSpPr/>
          <p:nvPr/>
        </p:nvSpPr>
        <p:spPr>
          <a:xfrm>
            <a:off x="5090007" y="5029200"/>
            <a:ext cx="731520" cy="731520"/>
          </a:xfrm>
          <a:prstGeom prst="ellipse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0007" y="52120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5081E"/>
                </a:solidFill>
                <a:latin typeface="Calibri"/>
              </a:rPr>
              <a:t>2</a:t>
            </a:r>
          </a:p>
        </p:txBody>
      </p:sp>
      <p:sp>
        <p:nvSpPr>
          <p:cNvPr id="10" name="gear_2"/>
          <p:cNvSpPr/>
          <p:nvPr/>
        </p:nvSpPr>
        <p:spPr>
          <a:xfrm>
            <a:off x="7284567" y="5029200"/>
            <a:ext cx="731520" cy="731520"/>
          </a:xfrm>
          <a:prstGeom prst="ellipse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4567" y="52120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5081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26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ATOMICITE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5F7FF"/>
                </a:solidFill>
                <a:latin typeface="Consolas"/>
              </a:rPr>
              <a:t>OrderService.checkout()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00E5FF"/>
                </a:solidFill>
                <a:latin typeface="Calibri"/>
              </a:rPr>
              <a:t>Le coeur transactionnel de l'application</a:t>
            </a:r>
          </a:p>
        </p:txBody>
      </p:sp>
      <p:sp>
        <p:nvSpPr>
          <p:cNvPr id="6" name="code_block"/>
          <p:cNvSpPr/>
          <p:nvPr/>
        </p:nvSpPr>
        <p:spPr>
          <a:xfrm>
            <a:off x="457200" y="1828800"/>
            <a:ext cx="6858000" cy="4114800"/>
          </a:xfrm>
          <a:prstGeom prst="roundRect">
            <a:avLst>
              <a:gd name="adj" fmla="val 4000"/>
            </a:avLst>
          </a:prstGeom>
          <a:solidFill>
            <a:srgbClr val="0B0F2C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993392"/>
            <a:ext cx="164592" cy="164592"/>
          </a:xfrm>
          <a:prstGeom prst="ellipse">
            <a:avLst/>
          </a:prstGeom>
          <a:solidFill>
            <a:srgbClr val="FF6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93392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993392"/>
            <a:ext cx="164592" cy="164592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630936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F"/>
                </a:solidFill>
                <a:latin typeface="Consolas"/>
              </a:rPr>
              <a:t>@Transactional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public OrderDto checkout() {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Cart cart = cartService.getOrCreateCart(user);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if (cart.getItems().isEmpty())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  throw new BusinessException("Panier vide");</a:t>
            </a:r>
            <a:br/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// 1) Verifier le stock pour TOUS les items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for (CartItem ci : cart.getItems())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  inventoryService.checkAvailability(...);</a:t>
            </a:r>
            <a:br/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// 2) Creer Order + decrement stock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Order order = Order.builder()...build();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for (CartItem ci : cart.getItems()) {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  order.getItems().add(OrderItem...);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  inventoryService.decrement(...);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}</a:t>
            </a:r>
            <a:br/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// 3) Confirmer + vider panier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order.setStatus(CONFIRMED);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cartService.clearCart(cart);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  return OrderDto.from(saved);</a:t>
            </a:r>
            <a:br/>
            <a:r>
              <a:rPr sz="1100" b="0" i="0">
                <a:solidFill>
                  <a:srgbClr val="F5F7FF"/>
                </a:solidFill>
                <a:latin typeface="Consolas"/>
              </a:rPr>
              <a:t>}</a:t>
            </a:r>
          </a:p>
        </p:txBody>
      </p:sp>
      <p:sp>
        <p:nvSpPr>
          <p:cNvPr id="11" name="high_0"/>
          <p:cNvSpPr/>
          <p:nvPr/>
        </p:nvSpPr>
        <p:spPr>
          <a:xfrm>
            <a:off x="7589520" y="1828800"/>
            <a:ext cx="4206240" cy="13258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965960"/>
            <a:ext cx="45720" cy="10515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nsolas"/>
              </a:rPr>
              <a:t>@Transactional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468880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Tout dans une transaction. Si une etape echoue, rollback automatique.</a:t>
            </a:r>
          </a:p>
        </p:txBody>
      </p:sp>
      <p:sp>
        <p:nvSpPr>
          <p:cNvPr id="15" name="high_1"/>
          <p:cNvSpPr/>
          <p:nvPr/>
        </p:nvSpPr>
        <p:spPr>
          <a:xfrm>
            <a:off x="7589520" y="3246120"/>
            <a:ext cx="4206240" cy="13258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3383280"/>
            <a:ext cx="45720" cy="1051560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429000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7AFF"/>
                </a:solidFill>
                <a:latin typeface="Consolas"/>
              </a:rPr>
              <a:t>checkAvailability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886200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Verifie AVANT toute modification. Pre-requis fiable.</a:t>
            </a:r>
          </a:p>
        </p:txBody>
      </p:sp>
      <p:sp>
        <p:nvSpPr>
          <p:cNvPr id="19" name="high_2"/>
          <p:cNvSpPr/>
          <p:nvPr/>
        </p:nvSpPr>
        <p:spPr>
          <a:xfrm>
            <a:off x="7589520" y="4663440"/>
            <a:ext cx="4206240" cy="13258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4800600"/>
            <a:ext cx="45720" cy="1051560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846320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4F8B"/>
                </a:solidFill>
                <a:latin typeface="Consolas"/>
              </a:rPr>
              <a:t>decrement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303520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DE5"/>
                </a:solidFill>
                <a:latin typeface="Calibri"/>
              </a:rPr>
              <a:t>Decrement reel du stock. Coordonne avec la creation OrderItem.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27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ATOMICITE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F7FF"/>
                </a:solidFill>
                <a:latin typeface="Calibri"/>
              </a:rPr>
              <a:t>ACID, illustré</a:t>
            </a:r>
          </a:p>
        </p:txBody>
      </p:sp>
      <p:sp>
        <p:nvSpPr>
          <p:cNvPr id="5" name="acid_0"/>
          <p:cNvSpPr/>
          <p:nvPr/>
        </p:nvSpPr>
        <p:spPr>
          <a:xfrm>
            <a:off x="495147" y="2286000"/>
            <a:ext cx="2697480" cy="3657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307" y="2286000"/>
            <a:ext cx="24231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147" y="2651760"/>
            <a:ext cx="2697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0" b="1" i="0" spc="-50">
                <a:solidFill>
                  <a:srgbClr val="00E5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147" y="4389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Atomicity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502920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DE5"/>
                </a:solidFill>
                <a:latin typeface="Calibri"/>
              </a:rPr>
              <a:t>Tout ou rien. Le checkout est indivisible.</a:t>
            </a:r>
          </a:p>
        </p:txBody>
      </p:sp>
      <p:sp>
        <p:nvSpPr>
          <p:cNvPr id="10" name="acid_1"/>
          <p:cNvSpPr/>
          <p:nvPr/>
        </p:nvSpPr>
        <p:spPr>
          <a:xfrm>
            <a:off x="3329787" y="2286000"/>
            <a:ext cx="2697480" cy="3657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66947" y="2286000"/>
            <a:ext cx="242316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9787" y="2651760"/>
            <a:ext cx="2697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0" b="1" i="0" spc="-50">
                <a:solidFill>
                  <a:srgbClr val="B57AFF"/>
                </a:solidFill>
                <a:latin typeface="Calibr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9787" y="4389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2667" y="502920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DE5"/>
                </a:solidFill>
                <a:latin typeface="Calibri"/>
              </a:rPr>
              <a:t>Stocks et commandes restent coherents.</a:t>
            </a:r>
          </a:p>
        </p:txBody>
      </p:sp>
      <p:sp>
        <p:nvSpPr>
          <p:cNvPr id="15" name="acid_2"/>
          <p:cNvSpPr/>
          <p:nvPr/>
        </p:nvSpPr>
        <p:spPr>
          <a:xfrm>
            <a:off x="6164427" y="2286000"/>
            <a:ext cx="2697480" cy="3657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1587" y="2286000"/>
            <a:ext cx="2423160" cy="36576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651760"/>
            <a:ext cx="2697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0" b="1" i="0" spc="-50">
                <a:solidFill>
                  <a:srgbClr val="FF4F8B"/>
                </a:solidFill>
                <a:latin typeface="Calibri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4427" y="4389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502920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DE5"/>
                </a:solidFill>
                <a:latin typeface="Calibri"/>
              </a:rPr>
              <a:t>Deux clients en simultane ne se marchent dessus.</a:t>
            </a:r>
          </a:p>
        </p:txBody>
      </p:sp>
      <p:sp>
        <p:nvSpPr>
          <p:cNvPr id="20" name="acid_3"/>
          <p:cNvSpPr/>
          <p:nvPr/>
        </p:nvSpPr>
        <p:spPr>
          <a:xfrm>
            <a:off x="8999067" y="2286000"/>
            <a:ext cx="2697480" cy="3657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36227" y="2286000"/>
            <a:ext cx="2423160" cy="36576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9067" y="2651760"/>
            <a:ext cx="2697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0" b="1" i="0" spc="-50">
                <a:solidFill>
                  <a:srgbClr val="00FFB2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9067" y="4389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7FF"/>
                </a:solidFill>
                <a:latin typeface="Calibri"/>
              </a:rPr>
              <a:t>Durability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1947" y="502920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DE5"/>
                </a:solidFill>
                <a:latin typeface="Calibri"/>
              </a:rPr>
              <a:t>Une fois COMMIT, c'est inscrit pour toujours.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28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5F7FF"/>
                </a:solidFill>
                <a:latin typeface="Calibri"/>
              </a:rPr>
              <a:t>Place à la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00E5FF"/>
                </a:solidFill>
                <a:latin typeface="Calibri"/>
              </a:rPr>
              <a:t>8 étapes, 1 parcours, 1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 i="0" spc="600">
                <a:solidFill>
                  <a:srgbClr val="8B92AB"/>
                </a:solidFill>
                <a:latin typeface="Calibri"/>
              </a:rPr>
              <a:t>▸ ▸ ▸ ▸ ▸ ▸ ▸ 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29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5F7FF"/>
                </a:solidFill>
                <a:latin typeface="Calibri"/>
              </a:rPr>
              <a:t>Parcours utilisateur</a:t>
            </a:r>
          </a:p>
        </p:txBody>
      </p:sp>
      <p:sp>
        <p:nvSpPr>
          <p:cNvPr id="5" name="journey_circle_1"/>
          <p:cNvSpPr/>
          <p:nvPr/>
        </p:nvSpPr>
        <p:spPr>
          <a:xfrm>
            <a:off x="860907" y="1828800"/>
            <a:ext cx="548640" cy="548640"/>
          </a:xfrm>
          <a:prstGeom prst="ellipse">
            <a:avLst/>
          </a:prstGeom>
          <a:solidFill>
            <a:srgbClr val="00E5FF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01</a:t>
            </a:r>
          </a:p>
        </p:txBody>
      </p:sp>
      <p:sp>
        <p:nvSpPr>
          <p:cNvPr id="6" name="journey_card_1"/>
          <p:cNvSpPr/>
          <p:nvPr/>
        </p:nvSpPr>
        <p:spPr>
          <a:xfrm>
            <a:off x="44942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6587" y="2743200"/>
            <a:ext cx="10972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12 produits · filtre · recherche</a:t>
            </a:r>
          </a:p>
        </p:txBody>
      </p:sp>
      <p:sp>
        <p:nvSpPr>
          <p:cNvPr id="10" name="journey_circle_2"/>
          <p:cNvSpPr/>
          <p:nvPr/>
        </p:nvSpPr>
        <p:spPr>
          <a:xfrm>
            <a:off x="2278227" y="1828800"/>
            <a:ext cx="548640" cy="548640"/>
          </a:xfrm>
          <a:prstGeom prst="ellipse">
            <a:avLst/>
          </a:prstGeom>
          <a:solidFill>
            <a:srgbClr val="B57AFF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02</a:t>
            </a:r>
          </a:p>
        </p:txBody>
      </p:sp>
      <p:sp>
        <p:nvSpPr>
          <p:cNvPr id="11" name="journey_card_2"/>
          <p:cNvSpPr/>
          <p:nvPr/>
        </p:nvSpPr>
        <p:spPr>
          <a:xfrm>
            <a:off x="186674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03907" y="2743200"/>
            <a:ext cx="109728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674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Fiche produit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818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Image · prix · stock · avis</a:t>
            </a:r>
          </a:p>
        </p:txBody>
      </p:sp>
      <p:sp>
        <p:nvSpPr>
          <p:cNvPr id="15" name="journey_circle_3"/>
          <p:cNvSpPr/>
          <p:nvPr/>
        </p:nvSpPr>
        <p:spPr>
          <a:xfrm>
            <a:off x="3695547" y="1828800"/>
            <a:ext cx="548640" cy="548640"/>
          </a:xfrm>
          <a:prstGeom prst="ellipse">
            <a:avLst/>
          </a:prstGeom>
          <a:solidFill>
            <a:srgbClr val="FF4F8B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03</a:t>
            </a:r>
          </a:p>
        </p:txBody>
      </p:sp>
      <p:sp>
        <p:nvSpPr>
          <p:cNvPr id="16" name="journey_card_3"/>
          <p:cNvSpPr/>
          <p:nvPr/>
        </p:nvSpPr>
        <p:spPr>
          <a:xfrm>
            <a:off x="328406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1227" y="2743200"/>
            <a:ext cx="1097280" cy="36576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406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AuthGuard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550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Tentative panier → /login</a:t>
            </a:r>
          </a:p>
        </p:txBody>
      </p:sp>
      <p:sp>
        <p:nvSpPr>
          <p:cNvPr id="20" name="journey_circle_4"/>
          <p:cNvSpPr/>
          <p:nvPr/>
        </p:nvSpPr>
        <p:spPr>
          <a:xfrm>
            <a:off x="5112867" y="1828800"/>
            <a:ext cx="548640" cy="548640"/>
          </a:xfrm>
          <a:prstGeom prst="ellipse">
            <a:avLst/>
          </a:prstGeom>
          <a:solidFill>
            <a:srgbClr val="00FFB2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04</a:t>
            </a:r>
          </a:p>
        </p:txBody>
      </p:sp>
      <p:sp>
        <p:nvSpPr>
          <p:cNvPr id="21" name="journey_card_4"/>
          <p:cNvSpPr/>
          <p:nvPr/>
        </p:nvSpPr>
        <p:spPr>
          <a:xfrm>
            <a:off x="470138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38547" y="2743200"/>
            <a:ext cx="1097280" cy="36576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138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282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user@estore.ma · session JWT</a:t>
            </a:r>
          </a:p>
        </p:txBody>
      </p:sp>
      <p:sp>
        <p:nvSpPr>
          <p:cNvPr id="25" name="journey_circle_5"/>
          <p:cNvSpPr/>
          <p:nvPr/>
        </p:nvSpPr>
        <p:spPr>
          <a:xfrm>
            <a:off x="6530187" y="1828800"/>
            <a:ext cx="548640" cy="548640"/>
          </a:xfrm>
          <a:prstGeom prst="ellipse">
            <a:avLst/>
          </a:prstGeom>
          <a:solidFill>
            <a:srgbClr val="141A42"/>
          </a:solidFill>
          <a:ln w="1270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25C80"/>
                </a:solidFill>
              </a:rPr>
              <a:t>·</a:t>
            </a:r>
          </a:p>
        </p:txBody>
      </p:sp>
      <p:sp>
        <p:nvSpPr>
          <p:cNvPr id="26" name="journey_card_5"/>
          <p:cNvSpPr/>
          <p:nvPr/>
        </p:nvSpPr>
        <p:spPr>
          <a:xfrm>
            <a:off x="6118707" y="2743200"/>
            <a:ext cx="1371600" cy="2194560"/>
          </a:xfrm>
          <a:prstGeom prst="roundRect">
            <a:avLst>
              <a:gd name="adj" fmla="val 6000"/>
            </a:avLst>
          </a:prstGeom>
          <a:solidFill>
            <a:srgbClr val="0B0F2C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journey_circle_6"/>
          <p:cNvSpPr/>
          <p:nvPr/>
        </p:nvSpPr>
        <p:spPr>
          <a:xfrm>
            <a:off x="7947507" y="1828800"/>
            <a:ext cx="548640" cy="548640"/>
          </a:xfrm>
          <a:prstGeom prst="ellipse">
            <a:avLst/>
          </a:prstGeom>
          <a:solidFill>
            <a:srgbClr val="141A42"/>
          </a:solidFill>
          <a:ln w="1270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25C80"/>
                </a:solidFill>
              </a:rPr>
              <a:t>·</a:t>
            </a:r>
          </a:p>
        </p:txBody>
      </p:sp>
      <p:sp>
        <p:nvSpPr>
          <p:cNvPr id="28" name="journey_card_6"/>
          <p:cNvSpPr/>
          <p:nvPr/>
        </p:nvSpPr>
        <p:spPr>
          <a:xfrm>
            <a:off x="7536027" y="2743200"/>
            <a:ext cx="1371600" cy="2194560"/>
          </a:xfrm>
          <a:prstGeom prst="roundRect">
            <a:avLst>
              <a:gd name="adj" fmla="val 6000"/>
            </a:avLst>
          </a:prstGeom>
          <a:solidFill>
            <a:srgbClr val="0B0F2C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journey_circle_7"/>
          <p:cNvSpPr/>
          <p:nvPr/>
        </p:nvSpPr>
        <p:spPr>
          <a:xfrm>
            <a:off x="9364827" y="1828800"/>
            <a:ext cx="548640" cy="548640"/>
          </a:xfrm>
          <a:prstGeom prst="ellipse">
            <a:avLst/>
          </a:prstGeom>
          <a:solidFill>
            <a:srgbClr val="141A42"/>
          </a:solidFill>
          <a:ln w="1270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25C80"/>
                </a:solidFill>
              </a:rPr>
              <a:t>·</a:t>
            </a:r>
          </a:p>
        </p:txBody>
      </p:sp>
      <p:sp>
        <p:nvSpPr>
          <p:cNvPr id="30" name="journey_card_7"/>
          <p:cNvSpPr/>
          <p:nvPr/>
        </p:nvSpPr>
        <p:spPr>
          <a:xfrm>
            <a:off x="8953347" y="2743200"/>
            <a:ext cx="1371600" cy="2194560"/>
          </a:xfrm>
          <a:prstGeom prst="roundRect">
            <a:avLst>
              <a:gd name="adj" fmla="val 6000"/>
            </a:avLst>
          </a:prstGeom>
          <a:solidFill>
            <a:srgbClr val="0B0F2C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journey_circle_8"/>
          <p:cNvSpPr/>
          <p:nvPr/>
        </p:nvSpPr>
        <p:spPr>
          <a:xfrm>
            <a:off x="10782147" y="1828800"/>
            <a:ext cx="548640" cy="548640"/>
          </a:xfrm>
          <a:prstGeom prst="ellipse">
            <a:avLst/>
          </a:prstGeom>
          <a:solidFill>
            <a:srgbClr val="141A42"/>
          </a:solidFill>
          <a:ln w="1270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25C80"/>
                </a:solidFill>
              </a:rPr>
              <a:t>·</a:t>
            </a:r>
          </a:p>
        </p:txBody>
      </p:sp>
      <p:sp>
        <p:nvSpPr>
          <p:cNvPr id="32" name="journey_card_8"/>
          <p:cNvSpPr/>
          <p:nvPr/>
        </p:nvSpPr>
        <p:spPr>
          <a:xfrm>
            <a:off x="10370667" y="2743200"/>
            <a:ext cx="1371600" cy="2194560"/>
          </a:xfrm>
          <a:prstGeom prst="roundRect">
            <a:avLst>
              <a:gd name="adj" fmla="val 6000"/>
            </a:avLst>
          </a:prstGeom>
          <a:solidFill>
            <a:srgbClr val="0B0F2C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23747" y="2103120"/>
            <a:ext cx="10744200" cy="0"/>
          </a:xfrm>
          <a:prstGeom prst="line">
            <a:avLst/>
          </a:prstGeom>
          <a:ln w="12700">
            <a:solidFill>
              <a:srgbClr val="293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30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5F7FF"/>
                </a:solidFill>
                <a:latin typeface="Calibri"/>
              </a:rPr>
              <a:t>Parcours utilisateur</a:t>
            </a:r>
          </a:p>
        </p:txBody>
      </p:sp>
      <p:sp>
        <p:nvSpPr>
          <p:cNvPr id="5" name="journey_circle_1"/>
          <p:cNvSpPr/>
          <p:nvPr/>
        </p:nvSpPr>
        <p:spPr>
          <a:xfrm>
            <a:off x="860907" y="1828800"/>
            <a:ext cx="548640" cy="548640"/>
          </a:xfrm>
          <a:prstGeom prst="ellipse">
            <a:avLst/>
          </a:prstGeom>
          <a:solidFill>
            <a:srgbClr val="00E5FF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01</a:t>
            </a:r>
          </a:p>
        </p:txBody>
      </p:sp>
      <p:sp>
        <p:nvSpPr>
          <p:cNvPr id="6" name="journey_card_1"/>
          <p:cNvSpPr/>
          <p:nvPr/>
        </p:nvSpPr>
        <p:spPr>
          <a:xfrm>
            <a:off x="44942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6587" y="2743200"/>
            <a:ext cx="10972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12 produits · filtre · recherche</a:t>
            </a:r>
          </a:p>
        </p:txBody>
      </p:sp>
      <p:sp>
        <p:nvSpPr>
          <p:cNvPr id="10" name="journey_circle_2"/>
          <p:cNvSpPr/>
          <p:nvPr/>
        </p:nvSpPr>
        <p:spPr>
          <a:xfrm>
            <a:off x="2278227" y="1828800"/>
            <a:ext cx="548640" cy="548640"/>
          </a:xfrm>
          <a:prstGeom prst="ellipse">
            <a:avLst/>
          </a:prstGeom>
          <a:solidFill>
            <a:srgbClr val="B57AFF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02</a:t>
            </a:r>
          </a:p>
        </p:txBody>
      </p:sp>
      <p:sp>
        <p:nvSpPr>
          <p:cNvPr id="11" name="journey_card_2"/>
          <p:cNvSpPr/>
          <p:nvPr/>
        </p:nvSpPr>
        <p:spPr>
          <a:xfrm>
            <a:off x="186674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03907" y="2743200"/>
            <a:ext cx="109728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674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Fiche produit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818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Image · prix · stock · avis</a:t>
            </a:r>
          </a:p>
        </p:txBody>
      </p:sp>
      <p:sp>
        <p:nvSpPr>
          <p:cNvPr id="15" name="journey_circle_3"/>
          <p:cNvSpPr/>
          <p:nvPr/>
        </p:nvSpPr>
        <p:spPr>
          <a:xfrm>
            <a:off x="3695547" y="1828800"/>
            <a:ext cx="548640" cy="548640"/>
          </a:xfrm>
          <a:prstGeom prst="ellipse">
            <a:avLst/>
          </a:prstGeom>
          <a:solidFill>
            <a:srgbClr val="FF4F8B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03</a:t>
            </a:r>
          </a:p>
        </p:txBody>
      </p:sp>
      <p:sp>
        <p:nvSpPr>
          <p:cNvPr id="16" name="journey_card_3"/>
          <p:cNvSpPr/>
          <p:nvPr/>
        </p:nvSpPr>
        <p:spPr>
          <a:xfrm>
            <a:off x="328406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1227" y="2743200"/>
            <a:ext cx="1097280" cy="36576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406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AuthGuard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550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Tentative panier → /login</a:t>
            </a:r>
          </a:p>
        </p:txBody>
      </p:sp>
      <p:sp>
        <p:nvSpPr>
          <p:cNvPr id="20" name="journey_circle_4"/>
          <p:cNvSpPr/>
          <p:nvPr/>
        </p:nvSpPr>
        <p:spPr>
          <a:xfrm>
            <a:off x="5112867" y="1828800"/>
            <a:ext cx="548640" cy="548640"/>
          </a:xfrm>
          <a:prstGeom prst="ellipse">
            <a:avLst/>
          </a:prstGeom>
          <a:solidFill>
            <a:srgbClr val="00FFB2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04</a:t>
            </a:r>
          </a:p>
        </p:txBody>
      </p:sp>
      <p:sp>
        <p:nvSpPr>
          <p:cNvPr id="21" name="journey_card_4"/>
          <p:cNvSpPr/>
          <p:nvPr/>
        </p:nvSpPr>
        <p:spPr>
          <a:xfrm>
            <a:off x="470138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38547" y="2743200"/>
            <a:ext cx="1097280" cy="36576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138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282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user@estore.ma · session JWT</a:t>
            </a:r>
          </a:p>
        </p:txBody>
      </p:sp>
      <p:sp>
        <p:nvSpPr>
          <p:cNvPr id="25" name="journey_circle_5"/>
          <p:cNvSpPr/>
          <p:nvPr/>
        </p:nvSpPr>
        <p:spPr>
          <a:xfrm>
            <a:off x="6530187" y="1828800"/>
            <a:ext cx="548640" cy="548640"/>
          </a:xfrm>
          <a:prstGeom prst="ellipse">
            <a:avLst/>
          </a:prstGeom>
          <a:solidFill>
            <a:srgbClr val="FFC107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05</a:t>
            </a:r>
          </a:p>
        </p:txBody>
      </p:sp>
      <p:sp>
        <p:nvSpPr>
          <p:cNvPr id="26" name="journey_card_5"/>
          <p:cNvSpPr/>
          <p:nvPr/>
        </p:nvSpPr>
        <p:spPr>
          <a:xfrm>
            <a:off x="611870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5867" y="2743200"/>
            <a:ext cx="109728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870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Add to cart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014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Badge passe à 2 (signal)</a:t>
            </a:r>
          </a:p>
        </p:txBody>
      </p:sp>
      <p:sp>
        <p:nvSpPr>
          <p:cNvPr id="30" name="journey_circle_6"/>
          <p:cNvSpPr/>
          <p:nvPr/>
        </p:nvSpPr>
        <p:spPr>
          <a:xfrm>
            <a:off x="7947507" y="1828800"/>
            <a:ext cx="548640" cy="548640"/>
          </a:xfrm>
          <a:prstGeom prst="ellipse">
            <a:avLst/>
          </a:prstGeom>
          <a:solidFill>
            <a:srgbClr val="00E5FF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06</a:t>
            </a:r>
          </a:p>
        </p:txBody>
      </p:sp>
      <p:sp>
        <p:nvSpPr>
          <p:cNvPr id="31" name="journey_card_6"/>
          <p:cNvSpPr/>
          <p:nvPr/>
        </p:nvSpPr>
        <p:spPr>
          <a:xfrm>
            <a:off x="753602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73187" y="2743200"/>
            <a:ext cx="10972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602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Cart 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746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Quantités · total recalculé</a:t>
            </a:r>
          </a:p>
        </p:txBody>
      </p:sp>
      <p:sp>
        <p:nvSpPr>
          <p:cNvPr id="35" name="journey_circle_7"/>
          <p:cNvSpPr/>
          <p:nvPr/>
        </p:nvSpPr>
        <p:spPr>
          <a:xfrm>
            <a:off x="9364827" y="1828800"/>
            <a:ext cx="548640" cy="548640"/>
          </a:xfrm>
          <a:prstGeom prst="ellipse">
            <a:avLst/>
          </a:prstGeom>
          <a:solidFill>
            <a:srgbClr val="B57AFF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07</a:t>
            </a:r>
          </a:p>
        </p:txBody>
      </p:sp>
      <p:sp>
        <p:nvSpPr>
          <p:cNvPr id="36" name="journey_card_7"/>
          <p:cNvSpPr/>
          <p:nvPr/>
        </p:nvSpPr>
        <p:spPr>
          <a:xfrm>
            <a:off x="895334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0507" y="2743200"/>
            <a:ext cx="109728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5334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Checkout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478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Order #1 · CONFIRMED · stock - 2</a:t>
            </a:r>
          </a:p>
        </p:txBody>
      </p:sp>
      <p:sp>
        <p:nvSpPr>
          <p:cNvPr id="40" name="journey_circle_8"/>
          <p:cNvSpPr/>
          <p:nvPr/>
        </p:nvSpPr>
        <p:spPr>
          <a:xfrm>
            <a:off x="10782147" y="1828800"/>
            <a:ext cx="548640" cy="548640"/>
          </a:xfrm>
          <a:prstGeom prst="ellipse">
            <a:avLst/>
          </a:prstGeom>
          <a:solidFill>
            <a:srgbClr val="00FFB2"/>
          </a:solidFill>
          <a:ln w="2540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5081E"/>
                </a:solidFill>
              </a:rPr>
              <a:t>08</a:t>
            </a:r>
          </a:p>
        </p:txBody>
      </p:sp>
      <p:sp>
        <p:nvSpPr>
          <p:cNvPr id="41" name="journey_card_8"/>
          <p:cNvSpPr/>
          <p:nvPr/>
        </p:nvSpPr>
        <p:spPr>
          <a:xfrm>
            <a:off x="10370667" y="2743200"/>
            <a:ext cx="1371600" cy="219456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07827" y="2743200"/>
            <a:ext cx="1097280" cy="36576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70667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Calibri"/>
              </a:rPr>
              <a:t>Review 5★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2107" y="3520440"/>
            <a:ext cx="1188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8CDE5"/>
                </a:solidFill>
                <a:latin typeface="Calibri"/>
              </a:rPr>
              <a:t>MongoDB · createdAt · index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23747" y="2103120"/>
            <a:ext cx="10744200" cy="0"/>
          </a:xfrm>
          <a:prstGeom prst="line">
            <a:avLst/>
          </a:prstGeom>
          <a:ln w="12700">
            <a:solidFill>
              <a:srgbClr val="293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31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RESULTATS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5F7FF"/>
                </a:solidFill>
                <a:latin typeface="Calibri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Les chiffres qui valident le projet</a:t>
            </a:r>
          </a:p>
        </p:txBody>
      </p:sp>
      <p:sp>
        <p:nvSpPr>
          <p:cNvPr id="6" name="kpi_tests"/>
          <p:cNvSpPr/>
          <p:nvPr/>
        </p:nvSpPr>
        <p:spPr>
          <a:xfrm>
            <a:off x="335127" y="21945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2194560"/>
            <a:ext cx="24688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127" y="24688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0E5FF"/>
                </a:solidFill>
                <a:latin typeface="Calibri"/>
              </a:rPr>
              <a:t>9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127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F"/>
                </a:solidFill>
                <a:latin typeface="Calibri"/>
              </a:rPr>
              <a:t>Tests verts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" y="3520440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</p:txBody>
      </p:sp>
      <p:sp>
        <p:nvSpPr>
          <p:cNvPr id="11" name="kpi_tests_bar_bg"/>
          <p:cNvSpPr/>
          <p:nvPr/>
        </p:nvSpPr>
        <p:spPr>
          <a:xfrm>
            <a:off x="609447" y="370332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_tests_bar_fill"/>
          <p:cNvSpPr/>
          <p:nvPr/>
        </p:nvSpPr>
        <p:spPr>
          <a:xfrm>
            <a:off x="609447" y="370332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_bundle"/>
          <p:cNvSpPr/>
          <p:nvPr/>
        </p:nvSpPr>
        <p:spPr>
          <a:xfrm>
            <a:off x="3261207" y="21945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8367" y="2194560"/>
            <a:ext cx="246888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1207" y="24688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B57AFF"/>
                </a:solidFill>
                <a:latin typeface="Calibri"/>
              </a:rPr>
              <a:t>13 ko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1207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F"/>
                </a:solidFill>
                <a:latin typeface="Calibri"/>
              </a:rPr>
              <a:t>Bundle initial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527" y="3520440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</p:txBody>
      </p:sp>
      <p:sp>
        <p:nvSpPr>
          <p:cNvPr id="18" name="kpi_bundle_bar_bg"/>
          <p:cNvSpPr/>
          <p:nvPr/>
        </p:nvSpPr>
        <p:spPr>
          <a:xfrm>
            <a:off x="3535527" y="370332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kpi_bundle_bar_fill"/>
          <p:cNvSpPr/>
          <p:nvPr/>
        </p:nvSpPr>
        <p:spPr>
          <a:xfrm>
            <a:off x="3535527" y="3703320"/>
            <a:ext cx="285292" cy="109728"/>
          </a:xfrm>
          <a:prstGeom prst="roundRect">
            <a:avLst>
              <a:gd name="adj" fmla="val 50000"/>
            </a:avLst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pi_boot"/>
          <p:cNvSpPr/>
          <p:nvPr/>
        </p:nvSpPr>
        <p:spPr>
          <a:xfrm>
            <a:off x="6187287" y="21945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4447" y="2194560"/>
            <a:ext cx="2468880" cy="36576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7287" y="24688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4F8B"/>
                </a:solidFill>
                <a:latin typeface="Calibri"/>
              </a:rPr>
              <a:t>&lt; 8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F"/>
                </a:solidFill>
                <a:latin typeface="Calibri"/>
              </a:rPr>
              <a:t>Démarrage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3520440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</p:txBody>
      </p:sp>
      <p:sp>
        <p:nvSpPr>
          <p:cNvPr id="25" name="kpi_boot_bar_bg"/>
          <p:cNvSpPr/>
          <p:nvPr/>
        </p:nvSpPr>
        <p:spPr>
          <a:xfrm>
            <a:off x="6461607" y="370332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_boot_bar_fill"/>
          <p:cNvSpPr/>
          <p:nvPr/>
        </p:nvSpPr>
        <p:spPr>
          <a:xfrm>
            <a:off x="6461607" y="3703320"/>
            <a:ext cx="1755648" cy="109728"/>
          </a:xfrm>
          <a:prstGeom prst="roundRect">
            <a:avLst>
              <a:gd name="adj" fmla="val 50000"/>
            </a:avLst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_sec"/>
          <p:cNvSpPr/>
          <p:nvPr/>
        </p:nvSpPr>
        <p:spPr>
          <a:xfrm>
            <a:off x="9113367" y="21945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50527" y="2194560"/>
            <a:ext cx="2468880" cy="36576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3367" y="24688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0FFB2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3367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F"/>
                </a:solidFill>
                <a:latin typeface="Calibri"/>
              </a:rPr>
              <a:t>Vulnerabilité known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7687" y="3520440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</p:txBody>
      </p:sp>
      <p:sp>
        <p:nvSpPr>
          <p:cNvPr id="32" name="kpi_sec_bar_bg"/>
          <p:cNvSpPr/>
          <p:nvPr/>
        </p:nvSpPr>
        <p:spPr>
          <a:xfrm>
            <a:off x="9387687" y="370332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6350">
            <a:solidFill>
              <a:srgbClr val="293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pi_sec_bar_fill"/>
          <p:cNvSpPr/>
          <p:nvPr/>
        </p:nvSpPr>
        <p:spPr>
          <a:xfrm>
            <a:off x="9387687" y="370332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st_panel"/>
          <p:cNvSpPr/>
          <p:nvPr/>
        </p:nvSpPr>
        <p:spPr>
          <a:xfrm>
            <a:off x="457200" y="4572000"/>
            <a:ext cx="11277295" cy="201168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45720" cy="1737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400">
                <a:solidFill>
                  <a:srgbClr val="00E5FF"/>
                </a:solidFill>
                <a:latin typeface="Consolas"/>
              </a:rPr>
              <a:t>TESTS UNITAIRES — DETAIL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21208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0B0F2C"/>
          </a:solidFill>
          <a:ln w="12700">
            <a:solidFill>
              <a:srgbClr val="B5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49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57AFF"/>
                </a:solidFill>
                <a:latin typeface="Consolas"/>
              </a:rPr>
              <a:t>ProductServiceTest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5303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B57A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064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8CDE5"/>
                </a:solidFill>
                <a:latin typeface="Calibri"/>
              </a:rPr>
              <a:t>findById · search · pagination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521208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0B0F2C"/>
          </a:solidFill>
          <a:ln w="12700">
            <a:solidFill>
              <a:srgbClr val="FF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5349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4F8B"/>
                </a:solidFill>
                <a:latin typeface="Consolas"/>
              </a:rPr>
              <a:t>CartServiceTest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5303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FF4F8B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58064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8CDE5"/>
                </a:solidFill>
                <a:latin typeface="Calibri"/>
              </a:rPr>
              <a:t>stock OK · stock insuffisant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521208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0B0F2C"/>
          </a:solidFill>
          <a:ln w="12700">
            <a:solidFill>
              <a:srgbClr val="00F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5349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B2"/>
                </a:solidFill>
                <a:latin typeface="Consolas"/>
              </a:rPr>
              <a:t>OrderServiceTest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5303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00FFB2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8064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8CDE5"/>
                </a:solidFill>
                <a:latin typeface="Calibri"/>
              </a:rPr>
              <a:t>panier vide · checkout · trie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32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5F7FF"/>
                </a:solidFill>
                <a:latin typeface="Calibri"/>
              </a:rPr>
              <a:t>Performance mesurée</a:t>
            </a:r>
          </a:p>
        </p:txBody>
      </p:sp>
      <p:sp>
        <p:nvSpPr>
          <p:cNvPr id="5" name="perf_chart"/>
          <p:cNvSpPr/>
          <p:nvPr/>
        </p:nvSpPr>
        <p:spPr>
          <a:xfrm>
            <a:off x="914400" y="2286000"/>
            <a:ext cx="10058400" cy="36576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TEMPS DE REPONSE (MS) — P50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817803"/>
            <a:ext cx="1097280" cy="1211397"/>
          </a:xfrm>
          <a:prstGeom prst="roundRect">
            <a:avLst>
              <a:gd name="adj" fmla="val 1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45204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E5FF"/>
                </a:solidFill>
                <a:latin typeface="Consolas"/>
              </a:rPr>
              <a:t>240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120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CDE5"/>
                </a:solidFill>
                <a:latin typeface="Calibri"/>
              </a:rPr>
              <a:t>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120653"/>
            <a:ext cx="1097280" cy="908547"/>
          </a:xfrm>
          <a:prstGeom prst="roundRect">
            <a:avLst>
              <a:gd name="adj" fmla="val 10000"/>
            </a:avLst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75489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B57AFF"/>
                </a:solidFill>
                <a:latin typeface="Consolas"/>
              </a:rPr>
              <a:t>180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120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CDE5"/>
                </a:solidFill>
                <a:latin typeface="Calibri"/>
              </a:rPr>
              <a:t>Catalogue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423502"/>
            <a:ext cx="1097280" cy="605698"/>
          </a:xfrm>
          <a:prstGeom prst="roundRect">
            <a:avLst>
              <a:gd name="adj" fmla="val 10000"/>
            </a:avLst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405774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4F8B"/>
                </a:solidFill>
                <a:latin typeface="Consolas"/>
              </a:rPr>
              <a:t>120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5120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CDE5"/>
                </a:solidFill>
                <a:latin typeface="Calibri"/>
              </a:rPr>
              <a:t>Add cart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959730"/>
            <a:ext cx="1097280" cy="2069470"/>
          </a:xfrm>
          <a:prstGeom prst="roundRect">
            <a:avLst>
              <a:gd name="adj" fmla="val 10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59397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Consolas"/>
              </a:rPr>
              <a:t>410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120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CDE5"/>
                </a:solidFill>
                <a:latin typeface="Calibri"/>
              </a:rPr>
              <a:t>Checkout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272077"/>
            <a:ext cx="1097280" cy="757123"/>
          </a:xfrm>
          <a:prstGeom prst="roundRect">
            <a:avLst>
              <a:gd name="adj" fmla="val 10000"/>
            </a:avLst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90631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FFB2"/>
                </a:solidFill>
                <a:latin typeface="Consolas"/>
              </a:rPr>
              <a:t>150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120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CDE5"/>
                </a:solidFill>
                <a:latin typeface="Calibri"/>
              </a:rPr>
              <a:t>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66928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200">
                <a:solidFill>
                  <a:srgbClr val="00FFB2"/>
                </a:solidFill>
                <a:latin typeface="Consolas"/>
              </a:rPr>
              <a:t>▸ TOUTES LES OPERATIONS RESTENT SOUS LE SEUIL DE 500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33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5F7FF"/>
                </a:solidFill>
                <a:latin typeface="Calibri"/>
              </a:rPr>
              <a:t>L'incident Docker</a:t>
            </a:r>
          </a:p>
        </p:txBody>
      </p:sp>
      <p:sp>
        <p:nvSpPr>
          <p:cNvPr id="5" name="console"/>
          <p:cNvSpPr/>
          <p:nvPr/>
        </p:nvSpPr>
        <p:spPr>
          <a:xfrm>
            <a:off x="1371600" y="2286000"/>
            <a:ext cx="9144000" cy="1828800"/>
          </a:xfrm>
          <a:prstGeom prst="roundRect">
            <a:avLst>
              <a:gd name="adj" fmla="val 6000"/>
            </a:avLst>
          </a:prstGeom>
          <a:solidFill>
            <a:srgbClr val="101018"/>
          </a:solidFill>
          <a:ln w="2540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468880"/>
            <a:ext cx="164592" cy="164592"/>
          </a:xfrm>
          <a:prstGeom prst="ellipse">
            <a:avLst/>
          </a:prstGeom>
          <a:solidFill>
            <a:srgbClr val="FF6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2468880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2468880"/>
            <a:ext cx="164592" cy="164592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926080"/>
            <a:ext cx="8412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6F61"/>
                </a:solidFill>
                <a:latin typeface="Consolas"/>
              </a:rPr>
              <a:t>$ docker compose up -d</a:t>
            </a:r>
            <a:br/>
            <a:br/>
            <a:r>
              <a:rPr sz="1200" b="0" i="0">
                <a:solidFill>
                  <a:srgbClr val="FF6F61"/>
                </a:solidFill>
                <a:latin typeface="Consolas"/>
              </a:rPr>
              <a:t>ERROR: Docker Desktop installation failed.</a:t>
            </a:r>
            <a:br/>
            <a:r>
              <a:rPr sz="1200" b="0" i="0">
                <a:solidFill>
                  <a:srgbClr val="FF6F61"/>
                </a:solidFill>
                <a:latin typeface="Consolas"/>
              </a:rPr>
              <a:t>C:\ProgramData\DockerDesktop must be owned by an elevated account.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FFC107"/>
                </a:solidFill>
                <a:latin typeface="Calibri"/>
              </a:rPr>
              <a:t>▸ J-1. La veille de la soutenance.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F"/>
                </a:solidFill>
                <a:latin typeface="Calibri"/>
              </a:rPr>
              <a:t>Il fallait une solution. Maintenant.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34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5F7FF"/>
                </a:solidFill>
                <a:latin typeface="Calibri"/>
              </a:rPr>
              <a:t>La solution</a:t>
            </a:r>
          </a:p>
        </p:txBody>
      </p:sp>
      <p:sp>
        <p:nvSpPr>
          <p:cNvPr id="5" name="console"/>
          <p:cNvSpPr/>
          <p:nvPr/>
        </p:nvSpPr>
        <p:spPr>
          <a:xfrm>
            <a:off x="1371600" y="2286000"/>
            <a:ext cx="9144000" cy="1828800"/>
          </a:xfrm>
          <a:prstGeom prst="roundRect">
            <a:avLst>
              <a:gd name="adj" fmla="val 6000"/>
            </a:avLst>
          </a:prstGeom>
          <a:solidFill>
            <a:srgbClr val="101018"/>
          </a:solidFill>
          <a:ln w="25400">
            <a:solidFill>
              <a:srgbClr val="00F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468880"/>
            <a:ext cx="164592" cy="164592"/>
          </a:xfrm>
          <a:prstGeom prst="ellipse">
            <a:avLst/>
          </a:prstGeom>
          <a:solidFill>
            <a:srgbClr val="FF6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2468880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2468880"/>
            <a:ext cx="164592" cy="164592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926080"/>
            <a:ext cx="8412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FFB2"/>
                </a:solidFill>
                <a:latin typeface="Consolas"/>
              </a:rPr>
              <a:t>$ ./mvnw spring-boot:run</a:t>
            </a:r>
            <a:br/>
            <a:br/>
            <a:r>
              <a:rPr sz="1200" b="0" i="0">
                <a:solidFill>
                  <a:srgbClr val="00FFB2"/>
                </a:solidFill>
                <a:latin typeface="Consolas"/>
              </a:rPr>
              <a:t>  Started EstoreApplication in 7.823 seconds</a:t>
            </a:r>
            <a:br/>
            <a:r>
              <a:rPr sz="1200" b="0" i="0">
                <a:solidFill>
                  <a:srgbClr val="00FFB2"/>
                </a:solidFill>
                <a:latin typeface="Consolas"/>
              </a:rPr>
              <a:t>  ✓ H2 in-memory · ✓ DataSeeder · ✓ JWT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00E5FF"/>
                </a:solidFill>
                <a:latin typeface="Calibri"/>
              </a:rPr>
              <a:t>▸ Le profil DEV existait depuis le début.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0FFB2"/>
                </a:solidFill>
                <a:latin typeface="Calibri"/>
              </a:rPr>
              <a:t>Architecture résiliente. Plan B intégré.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300">
                <a:solidFill>
                  <a:srgbClr val="8B92AB"/>
                </a:solidFill>
                <a:latin typeface="Consolas"/>
              </a:rPr>
              <a:t>// LA RESILIENCE EST UNE PROPRIETE D'ARCHITECTURE, PAS UNE REACTION D'URGENCE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35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5F7FF"/>
                </a:solidFill>
                <a:latin typeface="Calibri"/>
              </a:rPr>
              <a:t>Et après ?</a:t>
            </a:r>
          </a:p>
        </p:txBody>
      </p:sp>
      <p:sp>
        <p:nvSpPr>
          <p:cNvPr id="5" name="ms_0"/>
          <p:cNvSpPr/>
          <p:nvPr/>
        </p:nvSpPr>
        <p:spPr>
          <a:xfrm>
            <a:off x="495147" y="22860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307" y="2286000"/>
            <a:ext cx="24231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147" y="25603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400">
                <a:solidFill>
                  <a:srgbClr val="00E5FF"/>
                </a:solidFill>
                <a:latin typeface="Consolas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147" y="31089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0" i="0">
                <a:solidFill>
                  <a:srgbClr val="00E5FF"/>
                </a:solidFill>
                <a:latin typeface="Calibri"/>
              </a:rPr>
              <a:t>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42976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F"/>
                </a:solidFill>
                <a:latin typeface="Calibri"/>
              </a:rPr>
              <a:t>Paiement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027" y="48463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DE5"/>
                </a:solidFill>
                <a:latin typeface="Calibri"/>
              </a:rPr>
              <a:t>Stripe · CMI · 3DS</a:t>
            </a:r>
          </a:p>
        </p:txBody>
      </p:sp>
      <p:sp>
        <p:nvSpPr>
          <p:cNvPr id="11" name="ms_1"/>
          <p:cNvSpPr/>
          <p:nvPr/>
        </p:nvSpPr>
        <p:spPr>
          <a:xfrm>
            <a:off x="3329787" y="22860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6947" y="2286000"/>
            <a:ext cx="2423160" cy="36576"/>
          </a:xfrm>
          <a:prstGeom prst="rect">
            <a:avLst/>
          </a:prstGeom>
          <a:solidFill>
            <a:srgbClr val="B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9787" y="25603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400">
                <a:solidFill>
                  <a:srgbClr val="B57AFF"/>
                </a:solidFill>
                <a:latin typeface="Consolas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9787" y="31089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0" i="0">
                <a:solidFill>
                  <a:srgbClr val="B57AFF"/>
                </a:solidFill>
                <a:latin typeface="Calibri"/>
              </a:rP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2667" y="42976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F"/>
                </a:solidFill>
                <a:latin typeface="Calibri"/>
              </a:rPr>
              <a:t>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2667" y="48463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DE5"/>
                </a:solidFill>
                <a:latin typeface="Calibri"/>
              </a:rPr>
              <a:t>Email · SMS · Push</a:t>
            </a:r>
          </a:p>
        </p:txBody>
      </p:sp>
      <p:sp>
        <p:nvSpPr>
          <p:cNvPr id="17" name="ms_2"/>
          <p:cNvSpPr/>
          <p:nvPr/>
        </p:nvSpPr>
        <p:spPr>
          <a:xfrm>
            <a:off x="6164427" y="22860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1587" y="2286000"/>
            <a:ext cx="2423160" cy="36576"/>
          </a:xfrm>
          <a:prstGeom prst="rect">
            <a:avLst/>
          </a:prstGeom>
          <a:solidFill>
            <a:srgbClr val="FF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4427" y="25603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400">
                <a:solidFill>
                  <a:srgbClr val="FF4F8B"/>
                </a:solidFill>
                <a:latin typeface="Consolas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1089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0" i="0">
                <a:solidFill>
                  <a:srgbClr val="FF4F8B"/>
                </a:solidFill>
                <a:latin typeface="Calibr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42976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F"/>
                </a:solidFill>
                <a:latin typeface="Calibri"/>
              </a:rPr>
              <a:t>Recommandations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8463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DE5"/>
                </a:solidFill>
                <a:latin typeface="Calibri"/>
              </a:rPr>
              <a:t>ML collaborative · embedding</a:t>
            </a:r>
          </a:p>
        </p:txBody>
      </p:sp>
      <p:sp>
        <p:nvSpPr>
          <p:cNvPr id="23" name="ms_3"/>
          <p:cNvSpPr/>
          <p:nvPr/>
        </p:nvSpPr>
        <p:spPr>
          <a:xfrm>
            <a:off x="8999067" y="22860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1A214D"/>
          </a:solidFill>
          <a:ln w="6350">
            <a:solidFill>
              <a:srgbClr val="3A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6227" y="2286000"/>
            <a:ext cx="2423160" cy="36576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9067" y="25603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400">
                <a:solidFill>
                  <a:srgbClr val="00FFB2"/>
                </a:solidFill>
                <a:latin typeface="Consolas"/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9067" y="31089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0" i="0">
                <a:solidFill>
                  <a:srgbClr val="00FFB2"/>
                </a:solidFill>
                <a:latin typeface="Calibri"/>
              </a:rP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1947" y="42976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5F7FF"/>
                </a:solidFill>
                <a:latin typeface="Calibri"/>
              </a:rPr>
              <a:t>Cloud-native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1947" y="48463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CDE5"/>
                </a:solidFill>
                <a:latin typeface="Calibri"/>
              </a:rPr>
              <a:t>Kubernetes · AWS · CI/CD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5760720"/>
            <a:ext cx="11277295" cy="0"/>
          </a:xfrm>
          <a:prstGeom prst="line">
            <a:avLst/>
          </a:prstGeom>
          <a:ln w="254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400">
                <a:solidFill>
                  <a:srgbClr val="8B92AB"/>
                </a:solidFill>
                <a:latin typeface="Consolas"/>
              </a:rPr>
              <a:t>FROM MVP TO CLOUD-NATIVE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36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0" b="1" i="0">
                <a:solidFill>
                  <a:srgbClr val="F5F7FF"/>
                </a:solidFill>
                <a:latin typeface="Calibri"/>
              </a:rPr>
              <a:t>E-Store n'est pas la fin.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0" b="1" i="0">
                <a:solidFill>
                  <a:srgbClr val="00E5FF"/>
                </a:solidFill>
                <a:latin typeface="Calibri"/>
              </a:rPr>
              <a:t>C'est la fondation.</a:t>
            </a:r>
          </a:p>
        </p:txBody>
      </p:sp>
      <p:sp>
        <p:nvSpPr>
          <p:cNvPr id="6" name="pillar_0"/>
          <p:cNvSpPr/>
          <p:nvPr/>
        </p:nvSpPr>
        <p:spPr>
          <a:xfrm>
            <a:off x="1615287" y="5029200"/>
            <a:ext cx="2743200" cy="73152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400" b="1">
                <a:solidFill>
                  <a:srgbClr val="00E5FF"/>
                </a:solidFill>
                <a:latin typeface="Consolas"/>
              </a:rPr>
              <a:t>PERFORMANT</a:t>
            </a:r>
          </a:p>
        </p:txBody>
      </p:sp>
      <p:sp>
        <p:nvSpPr>
          <p:cNvPr id="7" name="pillar_1"/>
          <p:cNvSpPr/>
          <p:nvPr/>
        </p:nvSpPr>
        <p:spPr>
          <a:xfrm>
            <a:off x="4724247" y="5029200"/>
            <a:ext cx="2743200" cy="73152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B5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400" b="1">
                <a:solidFill>
                  <a:srgbClr val="B57AFF"/>
                </a:solidFill>
                <a:latin typeface="Consolas"/>
              </a:rPr>
              <a:t>SCALABLE</a:t>
            </a:r>
          </a:p>
        </p:txBody>
      </p:sp>
      <p:sp>
        <p:nvSpPr>
          <p:cNvPr id="8" name="pillar_2"/>
          <p:cNvSpPr/>
          <p:nvPr/>
        </p:nvSpPr>
        <p:spPr>
          <a:xfrm>
            <a:off x="7833207" y="5029200"/>
            <a:ext cx="2743200" cy="73152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FF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400" b="1">
                <a:solidFill>
                  <a:srgbClr val="FF4F8B"/>
                </a:solidFill>
                <a:latin typeface="Consolas"/>
              </a:rPr>
              <a:t>OUVERT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37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00E5FF"/>
                </a:solidFill>
                <a:latin typeface="Consolas"/>
              </a:rPr>
              <a:t>// Q &amp;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500">
                <a:solidFill>
                  <a:srgbClr val="8B92AB"/>
                </a:solidFill>
                <a:latin typeface="Consolas"/>
              </a:rPr>
              <a:t>CHAPITRE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1" i="0" spc="-100">
                <a:solidFill>
                  <a:srgbClr val="F5F7FF"/>
                </a:solidFill>
                <a:latin typeface="Calibri"/>
              </a:rPr>
              <a:t>Merci.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1">
                <a:solidFill>
                  <a:srgbClr val="00E5FF"/>
                </a:solidFill>
                <a:latin typeface="Calibri"/>
              </a:rPr>
              <a:t>Place à vos questions.</a:t>
            </a:r>
          </a:p>
        </p:txBody>
      </p:sp>
      <p:sp>
        <p:nvSpPr>
          <p:cNvPr id="6" name="contact_0"/>
          <p:cNvSpPr/>
          <p:nvPr/>
        </p:nvSpPr>
        <p:spPr>
          <a:xfrm>
            <a:off x="883767" y="512064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00E5FF"/>
                </a:solidFill>
                <a:latin typeface="Consolas"/>
              </a:rPr>
              <a:t>AKRAM BELMOUSSA</a:t>
            </a:r>
          </a:p>
        </p:txBody>
      </p:sp>
      <p:sp>
        <p:nvSpPr>
          <p:cNvPr id="7" name="contact_1"/>
          <p:cNvSpPr/>
          <p:nvPr/>
        </p:nvSpPr>
        <p:spPr>
          <a:xfrm>
            <a:off x="4449927" y="512064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B5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B57AFF"/>
                </a:solidFill>
                <a:latin typeface="Consolas"/>
              </a:rPr>
              <a:t>NOUHAILA BEN SOUMANE</a:t>
            </a:r>
          </a:p>
        </p:txBody>
      </p:sp>
      <p:sp>
        <p:nvSpPr>
          <p:cNvPr id="8" name="contact_2"/>
          <p:cNvSpPr/>
          <p:nvPr/>
        </p:nvSpPr>
        <p:spPr>
          <a:xfrm>
            <a:off x="8016087" y="512064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 w="12700">
            <a:solidFill>
              <a:srgbClr val="FF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FF4F8B"/>
                </a:solidFill>
                <a:latin typeface="Consolas"/>
              </a:rPr>
              <a:t>PR. OMAR ZAHOUR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600">
                <a:solidFill>
                  <a:srgbClr val="8B92AB"/>
                </a:solidFill>
                <a:latin typeface="Consolas"/>
              </a:rPr>
              <a:t>// FSBM · UNIVERSITE HASSAN II ·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8B92AB"/>
                </a:solidFill>
                <a:latin typeface="Consolas"/>
              </a:rPr>
              <a:t>38 / 38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spd="med" advClick="1" mc:Ignorable="p14">
    <p14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